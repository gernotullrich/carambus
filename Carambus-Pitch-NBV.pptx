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Begrüßung. Kernbotschaft: Es geht nicht um noch eine App, sondern um eine gemeinsame Infrastruktur für den Verband. Seit 2022 im BC Wedel produktiv im Einsatz.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Problem benennen, ohne die Engagierten abzuwerten: Viele gute Einzelinitiativen, aber strukturell isoliert. Der Kernsatz: Jede Insellösung startet bei null und stirbt mit ihrem Betreuer.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Strukturunterschied: Jeder Verein bekommt einen eigenen kleinen Server (Raspberry Pi), der automatisch mit der Zentrale synchronisiert. Die Zentrale gleicht mit der ClubCloud ab. Fällt das Internet aus, läuft der Spielbetrieb lokal weiter.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ist der Trumpf gegenüber jeder Neuentwicklung: Diese Daten sind schon da. Wer heute mit Carambus startet, startet mit der kompletten Historie seiner Spieler und Ligen — nicht bei null. Zahlen sind Live-Stand der zentralen Datenbank.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Alltagsnutzen für Sportwarte und Turnierleiter: Ergebnisse entstehen am Tisch und wandern ohne weiteres Zutun bis in die ClubCloud. Das ist der Unterschied zwischen Digitalisierung und bloßer Verlagerung der Tipparbeit.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Politisch wichtigste Folie: Carambus ist keine Konkurrenz zur ClubCloud, sondern deren Zulieferer. Der Verband behält sein führendes System — bekommt aber aktuellere und fehlerfreiere Daten.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Referenz zeigen: alles davon läuft seit Jahren im BC Wedel. In einer Live-Demo kann jeder das Scoreboard und den KI-Assistenten selbst ausprobieren.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Antwort auf die Frage 'Und wenn uns noch etwas fehlt?': Weil der Quellcode offen und die Architektur sauber dokumentiert ist, kann KI-gestützte Entwicklung neue Module in Tagen liefern. Trainingssupport, Streaming, Video-Bibliothek und die Billard-Wissensdatenbank sind genau so entstanden. Das ist auch die Antwort auf die Nachhaltigkeitsfrage: Das System ist nicht von einer Person abhängig, die jede Zeile selbst schreibt.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Kostenargument entdramatisieren: Es gibt keine Lizenz- oder Abogebühren pro Verein. Die einzige Anschaffung ist ein Raspberry Pi als Server im Vereinsheim (~150 Euro). Für die Anzeigen ist keine neue Hardware nötig: Jedes netzwerkfähige Gerät mit Browser funktioniert — der vorhandene TV, ein Tablet, das Smartphone der Spieler. Für den Verband bleibt nur der Cloud-Server der Zentrale — unter 600 Euro im Jahr.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Konkreter Vorschlag statt vager Bitte um Interesse. Die drei Punkte sind bewusst klein gehalten: geringes Risiko, klarer Zeitrahmen (Saison 2026/27), und die Arbeitsgruppe sichert die Nachhaltigkeit im Verband.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3D28"/>
        </a:solidFill>
      </p:bgPr>
    </p:bg>
    <p:spTree>
      <p:nvGrpSpPr>
        <p:cNvPr id="1" name=""/>
        <p:cNvGrpSpPr/>
        <p:nvPr/>
      </p:nvGrpSpPr>
      <p:grpSpPr>
        <a:xfrm>
          <a:off x="0" y="0"/>
          <a:ext cx="0" cy="0"/>
          <a:chOff x="0" y="0"/>
          <a:chExt cx="0" cy="0"/>
        </a:xfrm>
      </p:grpSpPr>
      <p:sp>
        <p:nvSpPr>
          <p:cNvPr id="2" name="Shape 0"/>
          <p:cNvSpPr/>
          <p:nvPr/>
        </p:nvSpPr>
        <p:spPr>
          <a:xfrm>
            <a:off x="594360" y="640080"/>
            <a:ext cx="457200" cy="457200"/>
          </a:xfrm>
          <a:prstGeom prst="ellipse">
            <a:avLst/>
          </a:prstGeom>
          <a:solidFill>
            <a:srgbClr val="FFFFFF"/>
          </a:solidFill>
          <a:ln/>
        </p:spPr>
      </p:sp>
      <p:sp>
        <p:nvSpPr>
          <p:cNvPr id="3" name="Shape 1"/>
          <p:cNvSpPr/>
          <p:nvPr/>
        </p:nvSpPr>
        <p:spPr>
          <a:xfrm>
            <a:off x="1143000" y="640080"/>
            <a:ext cx="457200" cy="457200"/>
          </a:xfrm>
          <a:prstGeom prst="ellipse">
            <a:avLst/>
          </a:prstGeom>
          <a:solidFill>
            <a:srgbClr val="D9A82B"/>
          </a:solidFill>
          <a:ln/>
        </p:spPr>
      </p:sp>
      <p:sp>
        <p:nvSpPr>
          <p:cNvPr id="4" name="Shape 2"/>
          <p:cNvSpPr/>
          <p:nvPr/>
        </p:nvSpPr>
        <p:spPr>
          <a:xfrm>
            <a:off x="1691640" y="640080"/>
            <a:ext cx="457200" cy="457200"/>
          </a:xfrm>
          <a:prstGeom prst="ellipse">
            <a:avLst/>
          </a:prstGeom>
          <a:solidFill>
            <a:srgbClr val="B0413E"/>
          </a:solidFill>
          <a:ln/>
        </p:spPr>
      </p:sp>
      <p:sp>
        <p:nvSpPr>
          <p:cNvPr id="5" name="Text 3"/>
          <p:cNvSpPr/>
          <p:nvPr/>
        </p:nvSpPr>
        <p:spPr>
          <a:xfrm>
            <a:off x="548640" y="1417320"/>
            <a:ext cx="8046720"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Carambus</a:t>
            </a:r>
            <a:endParaRPr lang="en-US" sz="54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2200" dirty="0">
                <a:solidFill>
                  <a:srgbClr val="CFE5D8"/>
                </a:solidFill>
                <a:latin typeface="Calibri" pitchFamily="34" charset="0"/>
                <a:ea typeface="Calibri" pitchFamily="34" charset="-122"/>
                <a:cs typeface="Calibri" pitchFamily="34" charset="-120"/>
              </a:rPr>
              <a:t>Eine gemeinsame Dateninfrastruktur für den Billardsport</a:t>
            </a:r>
            <a:endParaRPr lang="en-US" sz="2200" dirty="0"/>
          </a:p>
        </p:txBody>
      </p:sp>
      <p:sp>
        <p:nvSpPr>
          <p:cNvPr id="7" name="Text 5"/>
          <p:cNvSpPr/>
          <p:nvPr/>
        </p:nvSpPr>
        <p:spPr>
          <a:xfrm>
            <a:off x="548640" y="3063240"/>
            <a:ext cx="8046720" cy="365760"/>
          </a:xfrm>
          <a:prstGeom prst="rect">
            <a:avLst/>
          </a:prstGeom>
          <a:noFill/>
          <a:ln/>
        </p:spPr>
        <p:txBody>
          <a:bodyPr wrap="square" lIns="0" tIns="0" rIns="0" bIns="0" rtlCol="0" anchor="ctr"/>
          <a:lstStyle/>
          <a:p>
            <a:pPr indent="0" marL="0">
              <a:buNone/>
            </a:pPr>
            <a:r>
              <a:rPr lang="en-US" sz="1500" i="1" dirty="0">
                <a:solidFill>
                  <a:srgbClr val="D9A82B"/>
                </a:solidFill>
                <a:latin typeface="Calibri" pitchFamily="34" charset="0"/>
                <a:ea typeface="Calibri" pitchFamily="34" charset="-122"/>
                <a:cs typeface="Calibri" pitchFamily="34" charset="-120"/>
              </a:rPr>
              <a:t>Statt vieler Einzellösungen: ein Verbund mit 17 Saisons Turnierhistorie</a:t>
            </a:r>
            <a:endParaRPr lang="en-US" sz="1500" dirty="0"/>
          </a:p>
        </p:txBody>
      </p:sp>
      <p:sp>
        <p:nvSpPr>
          <p:cNvPr id="8" name="Text 6"/>
          <p:cNvSpPr/>
          <p:nvPr/>
        </p:nvSpPr>
        <p:spPr>
          <a:xfrm>
            <a:off x="548640" y="4389120"/>
            <a:ext cx="8046720" cy="320040"/>
          </a:xfrm>
          <a:prstGeom prst="rect">
            <a:avLst/>
          </a:prstGeom>
          <a:noFill/>
          <a:ln/>
        </p:spPr>
        <p:txBody>
          <a:bodyPr wrap="square" lIns="0" tIns="0" rIns="0" bIns="0" rtlCol="0" anchor="ctr"/>
          <a:lstStyle/>
          <a:p>
            <a:pPr indent="0" marL="0">
              <a:buNone/>
            </a:pPr>
            <a:r>
              <a:rPr lang="en-US" sz="1200" dirty="0">
                <a:solidFill>
                  <a:srgbClr val="9FC3AE"/>
                </a:solidFill>
                <a:latin typeface="Calibri" pitchFamily="34" charset="0"/>
                <a:ea typeface="Calibri" pitchFamily="34" charset="-122"/>
                <a:cs typeface="Calibri" pitchFamily="34" charset="-120"/>
              </a:rPr>
              <a:t>Für den NBV  ·  Gernot Ullrich  ·  Billardclub Wedel 61 e.V.  ·  Open Source (MIT)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8229600" cy="502920"/>
          </a:xfrm>
          <a:prstGeom prst="rect">
            <a:avLst/>
          </a:prstGeom>
          <a:noFill/>
          <a:ln/>
        </p:spPr>
        <p:txBody>
          <a:bodyPr wrap="square" lIns="0" tIns="0" rIns="0" bIns="0" rtlCol="0" anchor="ctr"/>
          <a:lstStyle/>
          <a:p>
            <a:pPr indent="0" marL="0">
              <a:buNone/>
            </a:pPr>
            <a:r>
              <a:rPr lang="en-US" sz="2600" b="1" dirty="0">
                <a:solidFill>
                  <a:srgbClr val="0E3D28"/>
                </a:solidFill>
                <a:latin typeface="Cambria" pitchFamily="34" charset="0"/>
                <a:ea typeface="Cambria" pitchFamily="34" charset="-122"/>
                <a:cs typeface="Cambria" pitchFamily="34" charset="-120"/>
              </a:rPr>
              <a:t>Die Lage heute: Einzellösungen ohne Geschichte</a:t>
            </a:r>
            <a:endParaRPr lang="en-US" sz="2600" dirty="0"/>
          </a:p>
        </p:txBody>
      </p:sp>
      <p:sp>
        <p:nvSpPr>
          <p:cNvPr id="3" name="Text 1"/>
          <p:cNvSpPr/>
          <p:nvPr/>
        </p:nvSpPr>
        <p:spPr>
          <a:xfrm>
            <a:off x="502920" y="1005840"/>
            <a:ext cx="3886200" cy="777240"/>
          </a:xfrm>
          <a:prstGeom prst="rect">
            <a:avLst/>
          </a:prstGeom>
          <a:noFill/>
          <a:ln/>
        </p:spPr>
        <p:txBody>
          <a:bodyPr wrap="square" lIns="0" tIns="0" rIns="0" bIns="0" rtlCol="0" anchor="ctr"/>
          <a:lstStyle/>
          <a:p>
            <a:pPr indent="0" marL="0">
              <a:buNone/>
            </a:pPr>
            <a:r>
              <a:rPr lang="en-US" sz="1350" dirty="0">
                <a:solidFill>
                  <a:srgbClr val="1C2B24"/>
                </a:solidFill>
                <a:latin typeface="Calibri" pitchFamily="34" charset="0"/>
                <a:ea typeface="Calibri" pitchFamily="34" charset="-122"/>
                <a:cs typeface="Calibri" pitchFamily="34" charset="-120"/>
              </a:rPr>
              <a:t>In vielen Vereinen entstehen eigene Apps, Excel-Tabellen und Web-Tools — engagiert gemacht, aber isoliert.</a:t>
            </a:r>
            <a:endParaRPr lang="en-US" sz="1350" dirty="0"/>
          </a:p>
        </p:txBody>
      </p:sp>
      <p:sp>
        <p:nvSpPr>
          <p:cNvPr id="4" name="Text 2"/>
          <p:cNvSpPr/>
          <p:nvPr/>
        </p:nvSpPr>
        <p:spPr>
          <a:xfrm>
            <a:off x="502920" y="1874520"/>
            <a:ext cx="3886200" cy="2103120"/>
          </a:xfrm>
          <a:prstGeom prst="rect">
            <a:avLst/>
          </a:prstGeom>
          <a:noFill/>
          <a:ln/>
        </p:spPr>
        <p:txBody>
          <a:bodyPr wrap="square" lIns="0" tIns="0" rIns="0" bIns="0" rtlCol="0" anchor="ctr"/>
          <a:lstStyle/>
          <a:p>
            <a:pPr marL="342900" indent="-342900">
              <a:spcAft>
                <a:spcPts val="1000"/>
              </a:spcAft>
              <a:buSzPct val="100000"/>
              <a:buChar char="•"/>
            </a:pPr>
            <a:r>
              <a:rPr lang="en-US" sz="1350" dirty="0">
                <a:solidFill>
                  <a:srgbClr val="1C2B24"/>
                </a:solidFill>
                <a:latin typeface="Calibri" pitchFamily="34" charset="0"/>
                <a:ea typeface="Calibri" pitchFamily="34" charset="-122"/>
                <a:cs typeface="Calibri" pitchFamily="34" charset="-120"/>
              </a:rPr>
              <a:t>Jede Lösung startet bei null — ohne Spieler- und Turnierhistorie</a:t>
            </a:r>
            <a:endParaRPr lang="en-US" sz="1350" dirty="0"/>
          </a:p>
          <a:p>
            <a:pPr marL="342900" indent="-342900">
              <a:spcAft>
                <a:spcPts val="1000"/>
              </a:spcAft>
              <a:buSzPct val="100000"/>
              <a:buChar char="•"/>
            </a:pPr>
            <a:r>
              <a:rPr lang="en-US" sz="1350" dirty="0">
                <a:solidFill>
                  <a:srgbClr val="1C2B24"/>
                </a:solidFill>
                <a:latin typeface="Calibri" pitchFamily="34" charset="0"/>
                <a:ea typeface="Calibri" pitchFamily="34" charset="-122"/>
                <a:cs typeface="Calibri" pitchFamily="34" charset="-120"/>
              </a:rPr>
              <a:t>Keine Verbindung zur ClubCloud: Ergebnisse werden doppelt erfasst</a:t>
            </a:r>
            <a:endParaRPr lang="en-US" sz="1350" dirty="0"/>
          </a:p>
          <a:p>
            <a:pPr marL="342900" indent="-342900">
              <a:buSzPct val="100000"/>
              <a:buChar char="•"/>
            </a:pPr>
            <a:r>
              <a:rPr lang="en-US" sz="1350" dirty="0">
                <a:solidFill>
                  <a:srgbClr val="1C2B24"/>
                </a:solidFill>
                <a:latin typeface="Calibri" pitchFamily="34" charset="0"/>
                <a:ea typeface="Calibri" pitchFamily="34" charset="-122"/>
                <a:cs typeface="Calibri" pitchFamily="34" charset="-120"/>
              </a:rPr>
              <a:t>Daten und Wissen hängen an einer Person — fällt sie aus, stirbt die Lösung</a:t>
            </a:r>
            <a:endParaRPr lang="en-US" sz="1350" dirty="0"/>
          </a:p>
        </p:txBody>
      </p:sp>
      <p:sp>
        <p:nvSpPr>
          <p:cNvPr id="5" name="Text 3"/>
          <p:cNvSpPr/>
          <p:nvPr/>
        </p:nvSpPr>
        <p:spPr>
          <a:xfrm>
            <a:off x="502920" y="4206240"/>
            <a:ext cx="3886200" cy="548640"/>
          </a:xfrm>
          <a:prstGeom prst="rect">
            <a:avLst/>
          </a:prstGeom>
          <a:noFill/>
          <a:ln/>
        </p:spPr>
        <p:txBody>
          <a:bodyPr wrap="square" lIns="0" tIns="0" rIns="0" bIns="0" rtlCol="0" anchor="ctr"/>
          <a:lstStyle/>
          <a:p>
            <a:pPr indent="0" marL="0">
              <a:buNone/>
            </a:pPr>
            <a:r>
              <a:rPr lang="en-US" sz="1300" b="1" i="1" dirty="0">
                <a:solidFill>
                  <a:srgbClr val="B0413E"/>
                </a:solidFill>
                <a:latin typeface="Calibri" pitchFamily="34" charset="0"/>
                <a:ea typeface="Calibri" pitchFamily="34" charset="-122"/>
                <a:cs typeface="Calibri" pitchFamily="34" charset="-120"/>
              </a:rPr>
              <a:t>Ergebnis: verlorene Historie, doppelte Arbeit, kurze Lebensdauer.</a:t>
            </a:r>
            <a:endParaRPr lang="en-US" sz="1300" dirty="0"/>
          </a:p>
        </p:txBody>
      </p:sp>
      <p:sp>
        <p:nvSpPr>
          <p:cNvPr id="6" name="Shape 4"/>
          <p:cNvSpPr/>
          <p:nvPr/>
        </p:nvSpPr>
        <p:spPr>
          <a:xfrm flipV="1">
            <a:off x="5212080" y="1417320"/>
            <a:ext cx="1828800" cy="1051560"/>
          </a:xfrm>
          <a:prstGeom prst="line">
            <a:avLst/>
          </a:prstGeom>
          <a:noFill/>
          <a:ln w="15875">
            <a:solidFill>
              <a:srgbClr val="C4CCC7"/>
            </a:solidFill>
            <a:prstDash val="dash"/>
          </a:ln>
        </p:spPr>
      </p:sp>
      <p:sp>
        <p:nvSpPr>
          <p:cNvPr id="7" name="Shape 5"/>
          <p:cNvSpPr/>
          <p:nvPr/>
        </p:nvSpPr>
        <p:spPr>
          <a:xfrm>
            <a:off x="7040880" y="1417320"/>
            <a:ext cx="365760" cy="914400"/>
          </a:xfrm>
          <a:prstGeom prst="line">
            <a:avLst/>
          </a:prstGeom>
          <a:noFill/>
          <a:ln w="15875">
            <a:solidFill>
              <a:srgbClr val="C4CCC7"/>
            </a:solidFill>
            <a:prstDash val="dash"/>
          </a:ln>
        </p:spPr>
      </p:sp>
      <p:sp>
        <p:nvSpPr>
          <p:cNvPr id="8" name="Shape 6"/>
          <p:cNvSpPr/>
          <p:nvPr/>
        </p:nvSpPr>
        <p:spPr>
          <a:xfrm flipV="1">
            <a:off x="6035040" y="1417320"/>
            <a:ext cx="1005840" cy="2286000"/>
          </a:xfrm>
          <a:prstGeom prst="line">
            <a:avLst/>
          </a:prstGeom>
          <a:noFill/>
          <a:ln w="15875">
            <a:solidFill>
              <a:srgbClr val="C4CCC7"/>
            </a:solidFill>
            <a:prstDash val="dash"/>
          </a:ln>
        </p:spPr>
      </p:sp>
      <p:sp>
        <p:nvSpPr>
          <p:cNvPr id="9" name="Shape 7"/>
          <p:cNvSpPr/>
          <p:nvPr/>
        </p:nvSpPr>
        <p:spPr>
          <a:xfrm>
            <a:off x="7818120" y="1417320"/>
            <a:ext cx="228600" cy="2240280"/>
          </a:xfrm>
          <a:prstGeom prst="line">
            <a:avLst/>
          </a:prstGeom>
          <a:noFill/>
          <a:ln w="15875">
            <a:solidFill>
              <a:srgbClr val="C4CCC7"/>
            </a:solidFill>
            <a:prstDash val="dash"/>
          </a:ln>
        </p:spPr>
      </p:sp>
      <p:sp>
        <p:nvSpPr>
          <p:cNvPr id="10" name="Shape 8"/>
          <p:cNvSpPr/>
          <p:nvPr/>
        </p:nvSpPr>
        <p:spPr>
          <a:xfrm>
            <a:off x="5989320" y="868680"/>
            <a:ext cx="2103120" cy="548640"/>
          </a:xfrm>
          <a:prstGeom prst="roundRect">
            <a:avLst>
              <a:gd name="adj" fmla="val 13333"/>
            </a:avLst>
          </a:prstGeom>
          <a:solidFill>
            <a:srgbClr val="E9EDEB"/>
          </a:solidFill>
          <a:ln w="12700">
            <a:solidFill>
              <a:srgbClr val="C4CCC7"/>
            </a:solidFill>
            <a:prstDash val="solid"/>
          </a:ln>
        </p:spPr>
      </p:sp>
      <p:sp>
        <p:nvSpPr>
          <p:cNvPr id="11" name="Text 9"/>
          <p:cNvSpPr/>
          <p:nvPr/>
        </p:nvSpPr>
        <p:spPr>
          <a:xfrm>
            <a:off x="5989320" y="868680"/>
            <a:ext cx="2103120" cy="548640"/>
          </a:xfrm>
          <a:prstGeom prst="rect">
            <a:avLst/>
          </a:prstGeom>
          <a:noFill/>
          <a:ln/>
        </p:spPr>
        <p:txBody>
          <a:bodyPr wrap="square" lIns="0" tIns="0" rIns="0" bIns="0" rtlCol="0" anchor="ctr"/>
          <a:lstStyle/>
          <a:p>
            <a:pPr algn="ctr" indent="0" marL="0">
              <a:buNone/>
            </a:pPr>
            <a:r>
              <a:rPr lang="en-US" sz="1250" b="1" dirty="0">
                <a:solidFill>
                  <a:srgbClr val="5B6E63"/>
                </a:solidFill>
                <a:latin typeface="Calibri" pitchFamily="34" charset="0"/>
                <a:ea typeface="Calibri" pitchFamily="34" charset="-122"/>
                <a:cs typeface="Calibri" pitchFamily="34" charset="-120"/>
              </a:rPr>
              <a:t>ClubCloud (DBU)</a:t>
            </a:r>
            <a:endParaRPr lang="en-US" sz="1250" dirty="0"/>
          </a:p>
        </p:txBody>
      </p:sp>
      <p:sp>
        <p:nvSpPr>
          <p:cNvPr id="12" name="Shape 10"/>
          <p:cNvSpPr/>
          <p:nvPr/>
        </p:nvSpPr>
        <p:spPr>
          <a:xfrm>
            <a:off x="4754880" y="2011680"/>
            <a:ext cx="914400" cy="914400"/>
          </a:xfrm>
          <a:prstGeom prst="ellipse">
            <a:avLst/>
          </a:prstGeom>
          <a:solidFill>
            <a:srgbClr val="F0F0EE"/>
          </a:solidFill>
          <a:ln w="15875">
            <a:solidFill>
              <a:srgbClr val="C4CCC7"/>
            </a:solidFill>
            <a:prstDash val="solid"/>
          </a:ln>
        </p:spPr>
      </p:sp>
      <p:sp>
        <p:nvSpPr>
          <p:cNvPr id="13" name="Text 11"/>
          <p:cNvSpPr/>
          <p:nvPr/>
        </p:nvSpPr>
        <p:spPr>
          <a:xfrm>
            <a:off x="4754880" y="2011680"/>
            <a:ext cx="914400" cy="914400"/>
          </a:xfrm>
          <a:prstGeom prst="rect">
            <a:avLst/>
          </a:prstGeom>
          <a:noFill/>
          <a:ln/>
        </p:spPr>
        <p:txBody>
          <a:bodyPr wrap="square" lIns="0" tIns="0" rIns="0" bIns="0" rtlCol="0" anchor="ctr"/>
          <a:lstStyle/>
          <a:p>
            <a:pPr algn="ctr" indent="0" marL="0">
              <a:buNone/>
            </a:pPr>
            <a:r>
              <a:rPr lang="en-US" sz="950" b="1" dirty="0">
                <a:solidFill>
                  <a:srgbClr val="5B6E63"/>
                </a:solidFill>
                <a:latin typeface="Calibri" pitchFamily="34" charset="0"/>
                <a:ea typeface="Calibri" pitchFamily="34" charset="-122"/>
                <a:cs typeface="Calibri" pitchFamily="34" charset="-120"/>
              </a:rPr>
              <a:t>Excel-</a:t>
            </a:r>
            <a:endParaRPr lang="en-US" sz="950" dirty="0"/>
          </a:p>
          <a:p>
            <a:pPr algn="ctr" indent="0" marL="0">
              <a:buNone/>
            </a:pPr>
            <a:r>
              <a:rPr lang="en-US" sz="950" b="1" dirty="0">
                <a:solidFill>
                  <a:srgbClr val="5B6E63"/>
                </a:solidFill>
                <a:latin typeface="Calibri" pitchFamily="34" charset="0"/>
                <a:ea typeface="Calibri" pitchFamily="34" charset="-122"/>
                <a:cs typeface="Calibri" pitchFamily="34" charset="-120"/>
              </a:rPr>
              <a:t>Tabelle</a:t>
            </a:r>
            <a:endParaRPr lang="en-US" sz="950" dirty="0"/>
          </a:p>
        </p:txBody>
      </p:sp>
      <p:sp>
        <p:nvSpPr>
          <p:cNvPr id="14" name="Text 12"/>
          <p:cNvSpPr/>
          <p:nvPr/>
        </p:nvSpPr>
        <p:spPr>
          <a:xfrm>
            <a:off x="4572000" y="2944368"/>
            <a:ext cx="1280160" cy="256032"/>
          </a:xfrm>
          <a:prstGeom prst="rect">
            <a:avLst/>
          </a:prstGeom>
          <a:noFill/>
          <a:ln/>
        </p:spPr>
        <p:txBody>
          <a:bodyPr wrap="square" lIns="0" tIns="0" rIns="0" bIns="0" rtlCol="0" anchor="ctr"/>
          <a:lstStyle/>
          <a:p>
            <a:pPr algn="ctr" indent="0" marL="0">
              <a:buNone/>
            </a:pPr>
            <a:r>
              <a:rPr lang="en-US" sz="1000" dirty="0">
                <a:solidFill>
                  <a:srgbClr val="1C2B24"/>
                </a:solidFill>
                <a:latin typeface="Calibri" pitchFamily="34" charset="0"/>
                <a:ea typeface="Calibri" pitchFamily="34" charset="-122"/>
                <a:cs typeface="Calibri" pitchFamily="34" charset="-120"/>
              </a:rPr>
              <a:t>Verein A</a:t>
            </a:r>
            <a:endParaRPr lang="en-US" sz="1000" dirty="0"/>
          </a:p>
        </p:txBody>
      </p:sp>
      <p:sp>
        <p:nvSpPr>
          <p:cNvPr id="15" name="Shape 13"/>
          <p:cNvSpPr/>
          <p:nvPr/>
        </p:nvSpPr>
        <p:spPr>
          <a:xfrm>
            <a:off x="6949440" y="1874520"/>
            <a:ext cx="914400" cy="914400"/>
          </a:xfrm>
          <a:prstGeom prst="ellipse">
            <a:avLst/>
          </a:prstGeom>
          <a:solidFill>
            <a:srgbClr val="F0F0EE"/>
          </a:solidFill>
          <a:ln w="15875">
            <a:solidFill>
              <a:srgbClr val="C4CCC7"/>
            </a:solidFill>
            <a:prstDash val="solid"/>
          </a:ln>
        </p:spPr>
      </p:sp>
      <p:sp>
        <p:nvSpPr>
          <p:cNvPr id="16" name="Text 14"/>
          <p:cNvSpPr/>
          <p:nvPr/>
        </p:nvSpPr>
        <p:spPr>
          <a:xfrm>
            <a:off x="6949440" y="1874520"/>
            <a:ext cx="914400" cy="914400"/>
          </a:xfrm>
          <a:prstGeom prst="rect">
            <a:avLst/>
          </a:prstGeom>
          <a:noFill/>
          <a:ln/>
        </p:spPr>
        <p:txBody>
          <a:bodyPr wrap="square" lIns="0" tIns="0" rIns="0" bIns="0" rtlCol="0" anchor="ctr"/>
          <a:lstStyle/>
          <a:p>
            <a:pPr algn="ctr" indent="0" marL="0">
              <a:buNone/>
            </a:pPr>
            <a:r>
              <a:rPr lang="en-US" sz="950" b="1" dirty="0">
                <a:solidFill>
                  <a:srgbClr val="5B6E63"/>
                </a:solidFill>
                <a:latin typeface="Calibri" pitchFamily="34" charset="0"/>
                <a:ea typeface="Calibri" pitchFamily="34" charset="-122"/>
                <a:cs typeface="Calibri" pitchFamily="34" charset="-120"/>
              </a:rPr>
              <a:t>eigene</a:t>
            </a:r>
            <a:endParaRPr lang="en-US" sz="950" dirty="0"/>
          </a:p>
          <a:p>
            <a:pPr algn="ctr" indent="0" marL="0">
              <a:buNone/>
            </a:pPr>
            <a:r>
              <a:rPr lang="en-US" sz="950" b="1" dirty="0">
                <a:solidFill>
                  <a:srgbClr val="5B6E63"/>
                </a:solidFill>
                <a:latin typeface="Calibri" pitchFamily="34" charset="0"/>
                <a:ea typeface="Calibri" pitchFamily="34" charset="-122"/>
                <a:cs typeface="Calibri" pitchFamily="34" charset="-120"/>
              </a:rPr>
              <a:t>App</a:t>
            </a:r>
            <a:endParaRPr lang="en-US" sz="950" dirty="0"/>
          </a:p>
        </p:txBody>
      </p:sp>
      <p:sp>
        <p:nvSpPr>
          <p:cNvPr id="17" name="Text 15"/>
          <p:cNvSpPr/>
          <p:nvPr/>
        </p:nvSpPr>
        <p:spPr>
          <a:xfrm>
            <a:off x="6766560" y="2807208"/>
            <a:ext cx="1280160" cy="256032"/>
          </a:xfrm>
          <a:prstGeom prst="rect">
            <a:avLst/>
          </a:prstGeom>
          <a:noFill/>
          <a:ln/>
        </p:spPr>
        <p:txBody>
          <a:bodyPr wrap="square" lIns="0" tIns="0" rIns="0" bIns="0" rtlCol="0" anchor="ctr"/>
          <a:lstStyle/>
          <a:p>
            <a:pPr algn="ctr" indent="0" marL="0">
              <a:buNone/>
            </a:pPr>
            <a:r>
              <a:rPr lang="en-US" sz="1000" dirty="0">
                <a:solidFill>
                  <a:srgbClr val="1C2B24"/>
                </a:solidFill>
                <a:latin typeface="Calibri" pitchFamily="34" charset="0"/>
                <a:ea typeface="Calibri" pitchFamily="34" charset="-122"/>
                <a:cs typeface="Calibri" pitchFamily="34" charset="-120"/>
              </a:rPr>
              <a:t>Verein B</a:t>
            </a:r>
            <a:endParaRPr lang="en-US" sz="1000" dirty="0"/>
          </a:p>
        </p:txBody>
      </p:sp>
      <p:sp>
        <p:nvSpPr>
          <p:cNvPr id="18" name="Shape 16"/>
          <p:cNvSpPr/>
          <p:nvPr/>
        </p:nvSpPr>
        <p:spPr>
          <a:xfrm>
            <a:off x="5577840" y="3246120"/>
            <a:ext cx="914400" cy="914400"/>
          </a:xfrm>
          <a:prstGeom prst="ellipse">
            <a:avLst/>
          </a:prstGeom>
          <a:solidFill>
            <a:srgbClr val="F0F0EE"/>
          </a:solidFill>
          <a:ln w="15875">
            <a:solidFill>
              <a:srgbClr val="C4CCC7"/>
            </a:solidFill>
            <a:prstDash val="solid"/>
          </a:ln>
        </p:spPr>
      </p:sp>
      <p:sp>
        <p:nvSpPr>
          <p:cNvPr id="19" name="Text 17"/>
          <p:cNvSpPr/>
          <p:nvPr/>
        </p:nvSpPr>
        <p:spPr>
          <a:xfrm>
            <a:off x="5577840" y="3246120"/>
            <a:ext cx="914400" cy="914400"/>
          </a:xfrm>
          <a:prstGeom prst="rect">
            <a:avLst/>
          </a:prstGeom>
          <a:noFill/>
          <a:ln/>
        </p:spPr>
        <p:txBody>
          <a:bodyPr wrap="square" lIns="0" tIns="0" rIns="0" bIns="0" rtlCol="0" anchor="ctr"/>
          <a:lstStyle/>
          <a:p>
            <a:pPr algn="ctr" indent="0" marL="0">
              <a:buNone/>
            </a:pPr>
            <a:r>
              <a:rPr lang="en-US" sz="950" b="1" dirty="0">
                <a:solidFill>
                  <a:srgbClr val="5B6E63"/>
                </a:solidFill>
                <a:latin typeface="Calibri" pitchFamily="34" charset="0"/>
                <a:ea typeface="Calibri" pitchFamily="34" charset="-122"/>
                <a:cs typeface="Calibri" pitchFamily="34" charset="-120"/>
              </a:rPr>
              <a:t>Zettel &amp;</a:t>
            </a:r>
            <a:endParaRPr lang="en-US" sz="950" dirty="0"/>
          </a:p>
          <a:p>
            <a:pPr algn="ctr" indent="0" marL="0">
              <a:buNone/>
            </a:pPr>
            <a:r>
              <a:rPr lang="en-US" sz="950" b="1" dirty="0">
                <a:solidFill>
                  <a:srgbClr val="5B6E63"/>
                </a:solidFill>
                <a:latin typeface="Calibri" pitchFamily="34" charset="0"/>
                <a:ea typeface="Calibri" pitchFamily="34" charset="-122"/>
                <a:cs typeface="Calibri" pitchFamily="34" charset="-120"/>
              </a:rPr>
              <a:t>Aushang</a:t>
            </a:r>
            <a:endParaRPr lang="en-US" sz="950" dirty="0"/>
          </a:p>
        </p:txBody>
      </p:sp>
      <p:sp>
        <p:nvSpPr>
          <p:cNvPr id="20" name="Text 18"/>
          <p:cNvSpPr/>
          <p:nvPr/>
        </p:nvSpPr>
        <p:spPr>
          <a:xfrm>
            <a:off x="5394960" y="4178808"/>
            <a:ext cx="1280160" cy="256032"/>
          </a:xfrm>
          <a:prstGeom prst="rect">
            <a:avLst/>
          </a:prstGeom>
          <a:noFill/>
          <a:ln/>
        </p:spPr>
        <p:txBody>
          <a:bodyPr wrap="square" lIns="0" tIns="0" rIns="0" bIns="0" rtlCol="0" anchor="ctr"/>
          <a:lstStyle/>
          <a:p>
            <a:pPr algn="ctr" indent="0" marL="0">
              <a:buNone/>
            </a:pPr>
            <a:r>
              <a:rPr lang="en-US" sz="1000" dirty="0">
                <a:solidFill>
                  <a:srgbClr val="1C2B24"/>
                </a:solidFill>
                <a:latin typeface="Calibri" pitchFamily="34" charset="0"/>
                <a:ea typeface="Calibri" pitchFamily="34" charset="-122"/>
                <a:cs typeface="Calibri" pitchFamily="34" charset="-120"/>
              </a:rPr>
              <a:t>Verein C</a:t>
            </a:r>
            <a:endParaRPr lang="en-US" sz="1000" dirty="0"/>
          </a:p>
        </p:txBody>
      </p:sp>
      <p:sp>
        <p:nvSpPr>
          <p:cNvPr id="21" name="Shape 19"/>
          <p:cNvSpPr/>
          <p:nvPr/>
        </p:nvSpPr>
        <p:spPr>
          <a:xfrm>
            <a:off x="7589520" y="3200400"/>
            <a:ext cx="914400" cy="914400"/>
          </a:xfrm>
          <a:prstGeom prst="ellipse">
            <a:avLst/>
          </a:prstGeom>
          <a:solidFill>
            <a:srgbClr val="F0F0EE"/>
          </a:solidFill>
          <a:ln w="15875">
            <a:solidFill>
              <a:srgbClr val="C4CCC7"/>
            </a:solidFill>
            <a:prstDash val="solid"/>
          </a:ln>
        </p:spPr>
      </p:sp>
      <p:sp>
        <p:nvSpPr>
          <p:cNvPr id="22" name="Text 20"/>
          <p:cNvSpPr/>
          <p:nvPr/>
        </p:nvSpPr>
        <p:spPr>
          <a:xfrm>
            <a:off x="7589520" y="3200400"/>
            <a:ext cx="914400" cy="914400"/>
          </a:xfrm>
          <a:prstGeom prst="rect">
            <a:avLst/>
          </a:prstGeom>
          <a:noFill/>
          <a:ln/>
        </p:spPr>
        <p:txBody>
          <a:bodyPr wrap="square" lIns="0" tIns="0" rIns="0" bIns="0" rtlCol="0" anchor="ctr"/>
          <a:lstStyle/>
          <a:p>
            <a:pPr algn="ctr" indent="0" marL="0">
              <a:buNone/>
            </a:pPr>
            <a:r>
              <a:rPr lang="en-US" sz="950" b="1" dirty="0">
                <a:solidFill>
                  <a:srgbClr val="5B6E63"/>
                </a:solidFill>
                <a:latin typeface="Calibri" pitchFamily="34" charset="0"/>
                <a:ea typeface="Calibri" pitchFamily="34" charset="-122"/>
                <a:cs typeface="Calibri" pitchFamily="34" charset="-120"/>
              </a:rPr>
              <a:t>Web-</a:t>
            </a:r>
            <a:endParaRPr lang="en-US" sz="950" dirty="0"/>
          </a:p>
          <a:p>
            <a:pPr algn="ctr" indent="0" marL="0">
              <a:buNone/>
            </a:pPr>
            <a:r>
              <a:rPr lang="en-US" sz="950" b="1" dirty="0">
                <a:solidFill>
                  <a:srgbClr val="5B6E63"/>
                </a:solidFill>
                <a:latin typeface="Calibri" pitchFamily="34" charset="0"/>
                <a:ea typeface="Calibri" pitchFamily="34" charset="-122"/>
                <a:cs typeface="Calibri" pitchFamily="34" charset="-120"/>
              </a:rPr>
              <a:t>Tool</a:t>
            </a:r>
            <a:endParaRPr lang="en-US" sz="950" dirty="0"/>
          </a:p>
        </p:txBody>
      </p:sp>
      <p:sp>
        <p:nvSpPr>
          <p:cNvPr id="23" name="Text 21"/>
          <p:cNvSpPr/>
          <p:nvPr/>
        </p:nvSpPr>
        <p:spPr>
          <a:xfrm>
            <a:off x="7406640" y="4133088"/>
            <a:ext cx="1280160" cy="256032"/>
          </a:xfrm>
          <a:prstGeom prst="rect">
            <a:avLst/>
          </a:prstGeom>
          <a:noFill/>
          <a:ln/>
        </p:spPr>
        <p:txBody>
          <a:bodyPr wrap="square" lIns="0" tIns="0" rIns="0" bIns="0" rtlCol="0" anchor="ctr"/>
          <a:lstStyle/>
          <a:p>
            <a:pPr algn="ctr" indent="0" marL="0">
              <a:buNone/>
            </a:pPr>
            <a:r>
              <a:rPr lang="en-US" sz="1000" dirty="0">
                <a:solidFill>
                  <a:srgbClr val="1C2B24"/>
                </a:solidFill>
                <a:latin typeface="Calibri" pitchFamily="34" charset="0"/>
                <a:ea typeface="Calibri" pitchFamily="34" charset="-122"/>
                <a:cs typeface="Calibri" pitchFamily="34" charset="-120"/>
              </a:rPr>
              <a:t>Verein D</a:t>
            </a:r>
            <a:endParaRPr lang="en-US" sz="1000" dirty="0"/>
          </a:p>
        </p:txBody>
      </p:sp>
      <p:sp>
        <p:nvSpPr>
          <p:cNvPr id="24" name="Text 22"/>
          <p:cNvSpPr/>
          <p:nvPr/>
        </p:nvSpPr>
        <p:spPr>
          <a:xfrm>
            <a:off x="5989320" y="1737360"/>
            <a:ext cx="274320" cy="274320"/>
          </a:xfrm>
          <a:prstGeom prst="rect">
            <a:avLst/>
          </a:prstGeom>
          <a:noFill/>
          <a:ln/>
        </p:spPr>
        <p:txBody>
          <a:bodyPr wrap="square" lIns="0" tIns="0" rIns="0" bIns="0" rtlCol="0" anchor="ctr"/>
          <a:lstStyle/>
          <a:p>
            <a:pPr algn="ctr" indent="0" marL="0">
              <a:buNone/>
            </a:pPr>
            <a:r>
              <a:rPr lang="en-US" sz="1500" b="1" dirty="0">
                <a:solidFill>
                  <a:srgbClr val="B0413E"/>
                </a:solidFill>
                <a:latin typeface="Calibri" pitchFamily="34" charset="0"/>
                <a:ea typeface="Calibri" pitchFamily="34" charset="-122"/>
                <a:cs typeface="Calibri" pitchFamily="34" charset="-120"/>
              </a:rPr>
              <a:t>✕</a:t>
            </a:r>
            <a:endParaRPr lang="en-US" sz="1500" dirty="0"/>
          </a:p>
        </p:txBody>
      </p:sp>
      <p:sp>
        <p:nvSpPr>
          <p:cNvPr id="25" name="Text 23"/>
          <p:cNvSpPr/>
          <p:nvPr/>
        </p:nvSpPr>
        <p:spPr>
          <a:xfrm>
            <a:off x="7031736" y="1581912"/>
            <a:ext cx="274320" cy="274320"/>
          </a:xfrm>
          <a:prstGeom prst="rect">
            <a:avLst/>
          </a:prstGeom>
          <a:noFill/>
          <a:ln/>
        </p:spPr>
        <p:txBody>
          <a:bodyPr wrap="square" lIns="0" tIns="0" rIns="0" bIns="0" rtlCol="0" anchor="ctr"/>
          <a:lstStyle/>
          <a:p>
            <a:pPr algn="ctr" indent="0" marL="0">
              <a:buNone/>
            </a:pPr>
            <a:r>
              <a:rPr lang="en-US" sz="1500" b="1" dirty="0">
                <a:solidFill>
                  <a:srgbClr val="B0413E"/>
                </a:solidFill>
                <a:latin typeface="Calibri" pitchFamily="34" charset="0"/>
                <a:ea typeface="Calibri" pitchFamily="34" charset="-122"/>
                <a:cs typeface="Calibri" pitchFamily="34" charset="-120"/>
              </a:rPr>
              <a:t>✕</a:t>
            </a:r>
            <a:endParaRPr lang="en-US" sz="1500" dirty="0"/>
          </a:p>
        </p:txBody>
      </p:sp>
      <p:sp>
        <p:nvSpPr>
          <p:cNvPr id="26" name="Text 24"/>
          <p:cNvSpPr/>
          <p:nvPr/>
        </p:nvSpPr>
        <p:spPr>
          <a:xfrm>
            <a:off x="6355080" y="2377440"/>
            <a:ext cx="274320" cy="274320"/>
          </a:xfrm>
          <a:prstGeom prst="rect">
            <a:avLst/>
          </a:prstGeom>
          <a:noFill/>
          <a:ln/>
        </p:spPr>
        <p:txBody>
          <a:bodyPr wrap="square" lIns="0" tIns="0" rIns="0" bIns="0" rtlCol="0" anchor="ctr"/>
          <a:lstStyle/>
          <a:p>
            <a:pPr algn="ctr" indent="0" marL="0">
              <a:buNone/>
            </a:pPr>
            <a:r>
              <a:rPr lang="en-US" sz="1500" b="1" dirty="0">
                <a:solidFill>
                  <a:srgbClr val="B0413E"/>
                </a:solidFill>
                <a:latin typeface="Calibri" pitchFamily="34" charset="0"/>
                <a:ea typeface="Calibri" pitchFamily="34" charset="-122"/>
                <a:cs typeface="Calibri" pitchFamily="34" charset="-120"/>
              </a:rPr>
              <a:t>✕</a:t>
            </a:r>
            <a:endParaRPr lang="en-US" sz="1500" dirty="0"/>
          </a:p>
        </p:txBody>
      </p:sp>
      <p:sp>
        <p:nvSpPr>
          <p:cNvPr id="27" name="Text 25"/>
          <p:cNvSpPr/>
          <p:nvPr/>
        </p:nvSpPr>
        <p:spPr>
          <a:xfrm>
            <a:off x="7818120" y="2624328"/>
            <a:ext cx="274320" cy="274320"/>
          </a:xfrm>
          <a:prstGeom prst="rect">
            <a:avLst/>
          </a:prstGeom>
          <a:noFill/>
          <a:ln/>
        </p:spPr>
        <p:txBody>
          <a:bodyPr wrap="square" lIns="0" tIns="0" rIns="0" bIns="0" rtlCol="0" anchor="ctr"/>
          <a:lstStyle/>
          <a:p>
            <a:pPr algn="ctr" indent="0" marL="0">
              <a:buNone/>
            </a:pPr>
            <a:r>
              <a:rPr lang="en-US" sz="1500" b="1" dirty="0">
                <a:solidFill>
                  <a:srgbClr val="B0413E"/>
                </a:solidFill>
                <a:latin typeface="Calibri" pitchFamily="34" charset="0"/>
                <a:ea typeface="Calibri" pitchFamily="34" charset="-122"/>
                <a:cs typeface="Calibri" pitchFamily="34" charset="-120"/>
              </a:rPr>
              <a: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502920"/>
          </a:xfrm>
          <a:prstGeom prst="rect">
            <a:avLst/>
          </a:prstGeom>
          <a:noFill/>
          <a:ln/>
        </p:spPr>
        <p:txBody>
          <a:bodyPr wrap="square" lIns="0" tIns="0" rIns="0" bIns="0" rtlCol="0" anchor="ctr"/>
          <a:lstStyle/>
          <a:p>
            <a:pPr indent="0" marL="0">
              <a:buNone/>
            </a:pPr>
            <a:r>
              <a:rPr lang="en-US" sz="2600" b="1" dirty="0">
                <a:solidFill>
                  <a:srgbClr val="0E3D28"/>
                </a:solidFill>
                <a:latin typeface="Cambria" pitchFamily="34" charset="0"/>
                <a:ea typeface="Cambria" pitchFamily="34" charset="-122"/>
                <a:cs typeface="Cambria" pitchFamily="34" charset="-120"/>
              </a:rPr>
              <a:t>Carambus: ein Verbund statt vieler Inseln</a:t>
            </a:r>
            <a:endParaRPr lang="en-US" sz="2600" dirty="0"/>
          </a:p>
        </p:txBody>
      </p:sp>
      <p:sp>
        <p:nvSpPr>
          <p:cNvPr id="3" name="Shape 1"/>
          <p:cNvSpPr/>
          <p:nvPr/>
        </p:nvSpPr>
        <p:spPr>
          <a:xfrm>
            <a:off x="3520440" y="868680"/>
            <a:ext cx="2103120" cy="548640"/>
          </a:xfrm>
          <a:prstGeom prst="roundRect">
            <a:avLst>
              <a:gd name="adj" fmla="val 13333"/>
            </a:avLst>
          </a:prstGeom>
          <a:solidFill>
            <a:srgbClr val="E9EDEB"/>
          </a:solidFill>
          <a:ln w="12700">
            <a:solidFill>
              <a:srgbClr val="C4CCC7"/>
            </a:solidFill>
            <a:prstDash val="solid"/>
          </a:ln>
        </p:spPr>
      </p:sp>
      <p:sp>
        <p:nvSpPr>
          <p:cNvPr id="4" name="Text 2"/>
          <p:cNvSpPr/>
          <p:nvPr/>
        </p:nvSpPr>
        <p:spPr>
          <a:xfrm>
            <a:off x="3520440" y="868680"/>
            <a:ext cx="2103120" cy="548640"/>
          </a:xfrm>
          <a:prstGeom prst="rect">
            <a:avLst/>
          </a:prstGeom>
          <a:noFill/>
          <a:ln/>
        </p:spPr>
        <p:txBody>
          <a:bodyPr wrap="square" lIns="0" tIns="0" rIns="0" bIns="0" rtlCol="0" anchor="ctr"/>
          <a:lstStyle/>
          <a:p>
            <a:pPr algn="ctr" indent="0" marL="0">
              <a:buNone/>
            </a:pPr>
            <a:r>
              <a:rPr lang="en-US" sz="1250" b="1" dirty="0">
                <a:solidFill>
                  <a:srgbClr val="5B6E63"/>
                </a:solidFill>
                <a:latin typeface="Calibri" pitchFamily="34" charset="0"/>
                <a:ea typeface="Calibri" pitchFamily="34" charset="-122"/>
                <a:cs typeface="Calibri" pitchFamily="34" charset="-120"/>
              </a:rPr>
              <a:t>ClubCloud (DBU)</a:t>
            </a:r>
            <a:endParaRPr lang="en-US" sz="1250" dirty="0"/>
          </a:p>
        </p:txBody>
      </p:sp>
      <p:sp>
        <p:nvSpPr>
          <p:cNvPr id="5" name="Shape 3"/>
          <p:cNvSpPr/>
          <p:nvPr/>
        </p:nvSpPr>
        <p:spPr>
          <a:xfrm>
            <a:off x="4572000" y="1463040"/>
            <a:ext cx="0" cy="502920"/>
          </a:xfrm>
          <a:prstGeom prst="line">
            <a:avLst/>
          </a:prstGeom>
          <a:noFill/>
          <a:ln w="31750">
            <a:solidFill>
              <a:srgbClr val="1B5E3B"/>
            </a:solidFill>
            <a:prstDash val="solid"/>
            <a:headEnd type="triangle"/>
            <a:tailEnd type="triangle"/>
          </a:ln>
        </p:spPr>
      </p:sp>
      <p:sp>
        <p:nvSpPr>
          <p:cNvPr id="6" name="Shape 4"/>
          <p:cNvSpPr/>
          <p:nvPr/>
        </p:nvSpPr>
        <p:spPr>
          <a:xfrm flipH="1">
            <a:off x="2148840" y="3072384"/>
            <a:ext cx="1719072" cy="804672"/>
          </a:xfrm>
          <a:prstGeom prst="line">
            <a:avLst/>
          </a:prstGeom>
          <a:noFill/>
          <a:ln w="25400">
            <a:solidFill>
              <a:srgbClr val="1B5E3B"/>
            </a:solidFill>
            <a:prstDash val="solid"/>
            <a:headEnd type="triangle"/>
            <a:tailEnd type="triangle"/>
          </a:ln>
        </p:spPr>
      </p:sp>
      <p:sp>
        <p:nvSpPr>
          <p:cNvPr id="7" name="Shape 5"/>
          <p:cNvSpPr/>
          <p:nvPr/>
        </p:nvSpPr>
        <p:spPr>
          <a:xfrm flipH="1">
            <a:off x="3913632" y="3383280"/>
            <a:ext cx="219456" cy="310896"/>
          </a:xfrm>
          <a:prstGeom prst="line">
            <a:avLst/>
          </a:prstGeom>
          <a:noFill/>
          <a:ln w="25400">
            <a:solidFill>
              <a:srgbClr val="1B5E3B"/>
            </a:solidFill>
            <a:prstDash val="solid"/>
            <a:headEnd type="triangle"/>
            <a:tailEnd type="triangle"/>
          </a:ln>
        </p:spPr>
      </p:sp>
      <p:sp>
        <p:nvSpPr>
          <p:cNvPr id="8" name="Shape 6"/>
          <p:cNvSpPr/>
          <p:nvPr/>
        </p:nvSpPr>
        <p:spPr>
          <a:xfrm>
            <a:off x="5010912" y="3383280"/>
            <a:ext cx="219456" cy="310896"/>
          </a:xfrm>
          <a:prstGeom prst="line">
            <a:avLst/>
          </a:prstGeom>
          <a:noFill/>
          <a:ln w="25400">
            <a:solidFill>
              <a:srgbClr val="1B5E3B"/>
            </a:solidFill>
            <a:prstDash val="solid"/>
            <a:headEnd type="triangle"/>
            <a:tailEnd type="triangle"/>
          </a:ln>
        </p:spPr>
      </p:sp>
      <p:sp>
        <p:nvSpPr>
          <p:cNvPr id="9" name="Shape 7"/>
          <p:cNvSpPr/>
          <p:nvPr/>
        </p:nvSpPr>
        <p:spPr>
          <a:xfrm>
            <a:off x="5276088" y="3072384"/>
            <a:ext cx="1719072" cy="804672"/>
          </a:xfrm>
          <a:prstGeom prst="line">
            <a:avLst/>
          </a:prstGeom>
          <a:noFill/>
          <a:ln w="25400">
            <a:solidFill>
              <a:srgbClr val="1B5E3B"/>
            </a:solidFill>
            <a:prstDash val="solid"/>
            <a:headEnd type="triangle"/>
            <a:tailEnd type="triangle"/>
          </a:ln>
        </p:spPr>
      </p:sp>
      <p:sp>
        <p:nvSpPr>
          <p:cNvPr id="10" name="Shape 8"/>
          <p:cNvSpPr/>
          <p:nvPr/>
        </p:nvSpPr>
        <p:spPr>
          <a:xfrm>
            <a:off x="3794760" y="1965960"/>
            <a:ext cx="1554480" cy="1554480"/>
          </a:xfrm>
          <a:prstGeom prst="ellipse">
            <a:avLst/>
          </a:prstGeom>
          <a:solidFill>
            <a:srgbClr val="1B5E3B"/>
          </a:solidFill>
          <a:ln/>
          <a:effectLst>
            <a:outerShdw sx="100000" sy="100000" kx="0" ky="0" algn="bl" rotWithShape="0" blurRad="88900" dist="25400" dir="2700000">
              <a:srgbClr val="000000">
                <a:alpha val="14000"/>
              </a:srgbClr>
            </a:outerShdw>
          </a:effectLst>
        </p:spPr>
      </p:sp>
      <p:sp>
        <p:nvSpPr>
          <p:cNvPr id="11" name="Text 9"/>
          <p:cNvSpPr/>
          <p:nvPr/>
        </p:nvSpPr>
        <p:spPr>
          <a:xfrm>
            <a:off x="3794760" y="1965960"/>
            <a:ext cx="1554480" cy="15544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Carambus-</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Zentrale</a:t>
            </a:r>
            <a:endParaRPr lang="en-US" sz="1250" dirty="0"/>
          </a:p>
          <a:p>
            <a:pPr algn="ctr" indent="0" marL="0">
              <a:buNone/>
            </a:pPr>
            <a:r>
              <a:rPr lang="en-US" sz="850" b="1" dirty="0">
                <a:solidFill>
                  <a:srgbClr val="CFE5D8"/>
                </a:solidFill>
                <a:latin typeface="Calibri" pitchFamily="34" charset="0"/>
                <a:ea typeface="Calibri" pitchFamily="34" charset="-122"/>
                <a:cs typeface="Calibri" pitchFamily="34" charset="-120"/>
              </a:rPr>
              <a:t>api.carambus.de</a:t>
            </a:r>
            <a:endParaRPr lang="en-US" sz="1250" dirty="0"/>
          </a:p>
        </p:txBody>
      </p:sp>
      <p:sp>
        <p:nvSpPr>
          <p:cNvPr id="12" name="Shape 10"/>
          <p:cNvSpPr/>
          <p:nvPr/>
        </p:nvSpPr>
        <p:spPr>
          <a:xfrm>
            <a:off x="1280160" y="3611880"/>
            <a:ext cx="914400" cy="914400"/>
          </a:xfrm>
          <a:prstGeom prst="ellipse">
            <a:avLst/>
          </a:prstGeom>
          <a:solidFill>
            <a:srgbClr val="EAF3EE"/>
          </a:solidFill>
          <a:ln w="19050">
            <a:solidFill>
              <a:srgbClr val="1B5E3B"/>
            </a:solidFill>
            <a:prstDash val="solid"/>
          </a:ln>
        </p:spPr>
      </p:sp>
      <p:sp>
        <p:nvSpPr>
          <p:cNvPr id="13" name="Text 11"/>
          <p:cNvSpPr/>
          <p:nvPr/>
        </p:nvSpPr>
        <p:spPr>
          <a:xfrm>
            <a:off x="1280160" y="3611880"/>
            <a:ext cx="914400" cy="914400"/>
          </a:xfrm>
          <a:prstGeom prst="rect">
            <a:avLst/>
          </a:prstGeom>
          <a:noFill/>
          <a:ln/>
        </p:spPr>
        <p:txBody>
          <a:bodyPr wrap="square" lIns="0" tIns="0" rIns="0" bIns="0" rtlCol="0" anchor="ctr"/>
          <a:lstStyle/>
          <a:p>
            <a:pPr algn="ctr" indent="0" marL="0">
              <a:buNone/>
            </a:pPr>
            <a:r>
              <a:rPr lang="en-US" sz="1000" b="1" dirty="0">
                <a:solidFill>
                  <a:srgbClr val="0E3D28"/>
                </a:solidFill>
                <a:latin typeface="Calibri" pitchFamily="34" charset="0"/>
                <a:ea typeface="Calibri" pitchFamily="34" charset="-122"/>
                <a:cs typeface="Calibri" pitchFamily="34" charset="-120"/>
              </a:rPr>
              <a:t>BC Wedel</a:t>
            </a:r>
            <a:endParaRPr lang="en-US" sz="1000" dirty="0"/>
          </a:p>
        </p:txBody>
      </p:sp>
      <p:sp>
        <p:nvSpPr>
          <p:cNvPr id="14" name="Shape 12"/>
          <p:cNvSpPr/>
          <p:nvPr/>
        </p:nvSpPr>
        <p:spPr>
          <a:xfrm>
            <a:off x="3200400" y="3611880"/>
            <a:ext cx="914400" cy="914400"/>
          </a:xfrm>
          <a:prstGeom prst="ellipse">
            <a:avLst/>
          </a:prstGeom>
          <a:solidFill>
            <a:srgbClr val="EAF3EE"/>
          </a:solidFill>
          <a:ln w="19050">
            <a:solidFill>
              <a:srgbClr val="1B5E3B"/>
            </a:solidFill>
            <a:prstDash val="solid"/>
          </a:ln>
        </p:spPr>
      </p:sp>
      <p:sp>
        <p:nvSpPr>
          <p:cNvPr id="15" name="Text 13"/>
          <p:cNvSpPr/>
          <p:nvPr/>
        </p:nvSpPr>
        <p:spPr>
          <a:xfrm>
            <a:off x="3200400" y="3611880"/>
            <a:ext cx="914400" cy="914400"/>
          </a:xfrm>
          <a:prstGeom prst="rect">
            <a:avLst/>
          </a:prstGeom>
          <a:noFill/>
          <a:ln/>
        </p:spPr>
        <p:txBody>
          <a:bodyPr wrap="square" lIns="0" tIns="0" rIns="0" bIns="0" rtlCol="0" anchor="ctr"/>
          <a:lstStyle/>
          <a:p>
            <a:pPr algn="ctr" indent="0" marL="0">
              <a:buNone/>
            </a:pPr>
            <a:r>
              <a:rPr lang="en-US" sz="1000" b="1" dirty="0">
                <a:solidFill>
                  <a:srgbClr val="0E3D28"/>
                </a:solidFill>
                <a:latin typeface="Calibri" pitchFamily="34" charset="0"/>
                <a:ea typeface="Calibri" pitchFamily="34" charset="-122"/>
                <a:cs typeface="Calibri" pitchFamily="34" charset="-120"/>
              </a:rPr>
              <a:t>Verein B</a:t>
            </a:r>
            <a:endParaRPr lang="en-US" sz="1000" dirty="0"/>
          </a:p>
        </p:txBody>
      </p:sp>
      <p:sp>
        <p:nvSpPr>
          <p:cNvPr id="16" name="Shape 14"/>
          <p:cNvSpPr/>
          <p:nvPr/>
        </p:nvSpPr>
        <p:spPr>
          <a:xfrm>
            <a:off x="5029200" y="3611880"/>
            <a:ext cx="914400" cy="914400"/>
          </a:xfrm>
          <a:prstGeom prst="ellipse">
            <a:avLst/>
          </a:prstGeom>
          <a:solidFill>
            <a:srgbClr val="EAF3EE"/>
          </a:solidFill>
          <a:ln w="19050">
            <a:solidFill>
              <a:srgbClr val="1B5E3B"/>
            </a:solidFill>
            <a:prstDash val="solid"/>
          </a:ln>
        </p:spPr>
      </p:sp>
      <p:sp>
        <p:nvSpPr>
          <p:cNvPr id="17" name="Text 15"/>
          <p:cNvSpPr/>
          <p:nvPr/>
        </p:nvSpPr>
        <p:spPr>
          <a:xfrm>
            <a:off x="5029200" y="3611880"/>
            <a:ext cx="914400" cy="914400"/>
          </a:xfrm>
          <a:prstGeom prst="rect">
            <a:avLst/>
          </a:prstGeom>
          <a:noFill/>
          <a:ln/>
        </p:spPr>
        <p:txBody>
          <a:bodyPr wrap="square" lIns="0" tIns="0" rIns="0" bIns="0" rtlCol="0" anchor="ctr"/>
          <a:lstStyle/>
          <a:p>
            <a:pPr algn="ctr" indent="0" marL="0">
              <a:buNone/>
            </a:pPr>
            <a:r>
              <a:rPr lang="en-US" sz="1000" b="1" dirty="0">
                <a:solidFill>
                  <a:srgbClr val="0E3D28"/>
                </a:solidFill>
                <a:latin typeface="Calibri" pitchFamily="34" charset="0"/>
                <a:ea typeface="Calibri" pitchFamily="34" charset="-122"/>
                <a:cs typeface="Calibri" pitchFamily="34" charset="-120"/>
              </a:rPr>
              <a:t>Verein C</a:t>
            </a:r>
            <a:endParaRPr lang="en-US" sz="1000" dirty="0"/>
          </a:p>
        </p:txBody>
      </p:sp>
      <p:sp>
        <p:nvSpPr>
          <p:cNvPr id="18" name="Shape 16"/>
          <p:cNvSpPr/>
          <p:nvPr/>
        </p:nvSpPr>
        <p:spPr>
          <a:xfrm>
            <a:off x="6949440" y="3611880"/>
            <a:ext cx="914400" cy="914400"/>
          </a:xfrm>
          <a:prstGeom prst="ellipse">
            <a:avLst/>
          </a:prstGeom>
          <a:solidFill>
            <a:srgbClr val="F7EBCE"/>
          </a:solidFill>
          <a:ln w="19050">
            <a:solidFill>
              <a:srgbClr val="D9A82B"/>
            </a:solidFill>
            <a:prstDash val="solid"/>
          </a:ln>
        </p:spPr>
      </p:sp>
      <p:sp>
        <p:nvSpPr>
          <p:cNvPr id="19" name="Text 17"/>
          <p:cNvSpPr/>
          <p:nvPr/>
        </p:nvSpPr>
        <p:spPr>
          <a:xfrm>
            <a:off x="6949440" y="3611880"/>
            <a:ext cx="914400" cy="914400"/>
          </a:xfrm>
          <a:prstGeom prst="rect">
            <a:avLst/>
          </a:prstGeom>
          <a:noFill/>
          <a:ln/>
        </p:spPr>
        <p:txBody>
          <a:bodyPr wrap="square" lIns="0" tIns="0" rIns="0" bIns="0" rtlCol="0" anchor="ctr"/>
          <a:lstStyle/>
          <a:p>
            <a:pPr algn="ctr" indent="0" marL="0">
              <a:buNone/>
            </a:pPr>
            <a:r>
              <a:rPr lang="en-US" sz="1000" b="1" dirty="0">
                <a:solidFill>
                  <a:srgbClr val="7A5A10"/>
                </a:solidFill>
                <a:latin typeface="Calibri" pitchFamily="34" charset="0"/>
                <a:ea typeface="Calibri" pitchFamily="34" charset="-122"/>
                <a:cs typeface="Calibri" pitchFamily="34" charset="-120"/>
              </a:rPr>
              <a:t>NBV-Server</a:t>
            </a:r>
            <a:endParaRPr lang="en-US" sz="1000" dirty="0"/>
          </a:p>
        </p:txBody>
      </p:sp>
      <p:sp>
        <p:nvSpPr>
          <p:cNvPr id="20" name="Shape 18"/>
          <p:cNvSpPr/>
          <p:nvPr/>
        </p:nvSpPr>
        <p:spPr>
          <a:xfrm>
            <a:off x="502920" y="4626864"/>
            <a:ext cx="3931920" cy="402336"/>
          </a:xfrm>
          <a:prstGeom prst="roundRect">
            <a:avLst>
              <a:gd name="adj" fmla="val 22727"/>
            </a:avLst>
          </a:prstGeom>
          <a:solidFill>
            <a:srgbClr val="EAF3EE"/>
          </a:solidFill>
          <a:ln/>
        </p:spPr>
      </p:sp>
      <p:sp>
        <p:nvSpPr>
          <p:cNvPr id="21" name="Text 19"/>
          <p:cNvSpPr/>
          <p:nvPr/>
        </p:nvSpPr>
        <p:spPr>
          <a:xfrm>
            <a:off x="502920" y="4626864"/>
            <a:ext cx="3931920" cy="402336"/>
          </a:xfrm>
          <a:prstGeom prst="rect">
            <a:avLst/>
          </a:prstGeom>
          <a:noFill/>
          <a:ln/>
        </p:spPr>
        <p:txBody>
          <a:bodyPr wrap="square" lIns="0" tIns="0" rIns="0" bIns="0" rtlCol="0" anchor="ctr"/>
          <a:lstStyle/>
          <a:p>
            <a:pPr algn="ctr" indent="0" marL="0">
              <a:buNone/>
            </a:pPr>
            <a:r>
              <a:rPr lang="en-US" sz="1050" b="1" dirty="0">
                <a:solidFill>
                  <a:srgbClr val="0E3D28"/>
                </a:solidFill>
                <a:latin typeface="Calibri" pitchFamily="34" charset="0"/>
                <a:ea typeface="Calibri" pitchFamily="34" charset="-122"/>
                <a:cs typeface="Calibri" pitchFamily="34" charset="-120"/>
              </a:rPr>
              <a:t>Ein gemeinsamer Datenraum — automatische Synchronisation</a:t>
            </a:r>
            <a:endParaRPr lang="en-US" sz="1050" dirty="0"/>
          </a:p>
        </p:txBody>
      </p:sp>
      <p:sp>
        <p:nvSpPr>
          <p:cNvPr id="22" name="Shape 20"/>
          <p:cNvSpPr/>
          <p:nvPr/>
        </p:nvSpPr>
        <p:spPr>
          <a:xfrm>
            <a:off x="4709160" y="4626864"/>
            <a:ext cx="3931920" cy="402336"/>
          </a:xfrm>
          <a:prstGeom prst="roundRect">
            <a:avLst>
              <a:gd name="adj" fmla="val 22727"/>
            </a:avLst>
          </a:prstGeom>
          <a:solidFill>
            <a:srgbClr val="EAF3EE"/>
          </a:solidFill>
          <a:ln/>
        </p:spPr>
      </p:sp>
      <p:sp>
        <p:nvSpPr>
          <p:cNvPr id="23" name="Text 21"/>
          <p:cNvSpPr/>
          <p:nvPr/>
        </p:nvSpPr>
        <p:spPr>
          <a:xfrm>
            <a:off x="4709160" y="4626864"/>
            <a:ext cx="3931920" cy="402336"/>
          </a:xfrm>
          <a:prstGeom prst="rect">
            <a:avLst/>
          </a:prstGeom>
          <a:noFill/>
          <a:ln/>
        </p:spPr>
        <p:txBody>
          <a:bodyPr wrap="square" lIns="0" tIns="0" rIns="0" bIns="0" rtlCol="0" anchor="ctr"/>
          <a:lstStyle/>
          <a:p>
            <a:pPr algn="ctr" indent="0" marL="0">
              <a:buNone/>
            </a:pPr>
            <a:r>
              <a:rPr lang="en-US" sz="1050" b="1" dirty="0">
                <a:solidFill>
                  <a:srgbClr val="0E3D28"/>
                </a:solidFill>
                <a:latin typeface="Calibri" pitchFamily="34" charset="0"/>
                <a:ea typeface="Calibri" pitchFamily="34" charset="-122"/>
                <a:cs typeface="Calibri" pitchFamily="34" charset="-120"/>
              </a:rPr>
              <a:t>Jeder Standort läuft auch ohne Internet weiter</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229600" cy="502920"/>
          </a:xfrm>
          <a:prstGeom prst="rect">
            <a:avLst/>
          </a:prstGeom>
          <a:noFill/>
          <a:ln/>
        </p:spPr>
        <p:txBody>
          <a:bodyPr wrap="square" lIns="0" tIns="0" rIns="0" bIns="0" rtlCol="0" anchor="ctr"/>
          <a:lstStyle/>
          <a:p>
            <a:pPr indent="0" marL="0">
              <a:buNone/>
            </a:pPr>
            <a:r>
              <a:rPr lang="en-US" sz="2600" b="1" dirty="0">
                <a:solidFill>
                  <a:srgbClr val="0E3D28"/>
                </a:solidFill>
                <a:latin typeface="Cambria" pitchFamily="34" charset="0"/>
                <a:ea typeface="Cambria" pitchFamily="34" charset="-122"/>
                <a:cs typeface="Cambria" pitchFamily="34" charset="-120"/>
              </a:rPr>
              <a:t>17 Saisons Historie sind schon an Bord</a:t>
            </a:r>
            <a:endParaRPr lang="en-US" sz="2600" dirty="0"/>
          </a:p>
        </p:txBody>
      </p:sp>
      <p:sp>
        <p:nvSpPr>
          <p:cNvPr id="3" name="Text 1"/>
          <p:cNvSpPr/>
          <p:nvPr/>
        </p:nvSpPr>
        <p:spPr>
          <a:xfrm>
            <a:off x="502920" y="1005840"/>
            <a:ext cx="2651760" cy="685800"/>
          </a:xfrm>
          <a:prstGeom prst="rect">
            <a:avLst/>
          </a:prstGeom>
          <a:noFill/>
          <a:ln/>
        </p:spPr>
        <p:txBody>
          <a:bodyPr wrap="square" lIns="0" tIns="0" rIns="0" bIns="0" rtlCol="0" anchor="ctr"/>
          <a:lstStyle/>
          <a:p>
            <a:pPr algn="ctr" indent="0" marL="0">
              <a:buNone/>
            </a:pPr>
            <a:r>
              <a:rPr lang="en-US" sz="4400" b="1" dirty="0">
                <a:solidFill>
                  <a:srgbClr val="1B5E3B"/>
                </a:solidFill>
                <a:latin typeface="Cambria" pitchFamily="34" charset="0"/>
                <a:ea typeface="Cambria" pitchFamily="34" charset="-122"/>
                <a:cs typeface="Cambria" pitchFamily="34" charset="-120"/>
              </a:rPr>
              <a:t>66.860</a:t>
            </a:r>
            <a:endParaRPr lang="en-US" sz="4400" dirty="0"/>
          </a:p>
        </p:txBody>
      </p:sp>
      <p:sp>
        <p:nvSpPr>
          <p:cNvPr id="4" name="Text 2"/>
          <p:cNvSpPr/>
          <p:nvPr/>
        </p:nvSpPr>
        <p:spPr>
          <a:xfrm>
            <a:off x="502920" y="1719072"/>
            <a:ext cx="2651760" cy="320040"/>
          </a:xfrm>
          <a:prstGeom prst="rect">
            <a:avLst/>
          </a:prstGeom>
          <a:noFill/>
          <a:ln/>
        </p:spPr>
        <p:txBody>
          <a:bodyPr wrap="square" lIns="0" tIns="0" rIns="0" bIns="0" rtlCol="0" anchor="ctr"/>
          <a:lstStyle/>
          <a:p>
            <a:pPr algn="ctr" indent="0" marL="0">
              <a:buNone/>
            </a:pPr>
            <a:r>
              <a:rPr lang="en-US" sz="1400" dirty="0">
                <a:solidFill>
                  <a:srgbClr val="5B6E63"/>
                </a:solidFill>
                <a:latin typeface="Calibri" pitchFamily="34" charset="0"/>
                <a:ea typeface="Calibri" pitchFamily="34" charset="-122"/>
                <a:cs typeface="Calibri" pitchFamily="34" charset="-120"/>
              </a:rPr>
              <a:t>Spieler</a:t>
            </a:r>
            <a:endParaRPr lang="en-US" sz="1400" dirty="0"/>
          </a:p>
        </p:txBody>
      </p:sp>
      <p:sp>
        <p:nvSpPr>
          <p:cNvPr id="5" name="Text 3"/>
          <p:cNvSpPr/>
          <p:nvPr/>
        </p:nvSpPr>
        <p:spPr>
          <a:xfrm>
            <a:off x="3383280" y="1005840"/>
            <a:ext cx="2651760" cy="685800"/>
          </a:xfrm>
          <a:prstGeom prst="rect">
            <a:avLst/>
          </a:prstGeom>
          <a:noFill/>
          <a:ln/>
        </p:spPr>
        <p:txBody>
          <a:bodyPr wrap="square" lIns="0" tIns="0" rIns="0" bIns="0" rtlCol="0" anchor="ctr"/>
          <a:lstStyle/>
          <a:p>
            <a:pPr algn="ctr" indent="0" marL="0">
              <a:buNone/>
            </a:pPr>
            <a:r>
              <a:rPr lang="en-US" sz="4400" b="1" dirty="0">
                <a:solidFill>
                  <a:srgbClr val="1B5E3B"/>
                </a:solidFill>
                <a:latin typeface="Cambria" pitchFamily="34" charset="0"/>
                <a:ea typeface="Cambria" pitchFamily="34" charset="-122"/>
                <a:cs typeface="Cambria" pitchFamily="34" charset="-120"/>
              </a:rPr>
              <a:t>313.509</a:t>
            </a:r>
            <a:endParaRPr lang="en-US" sz="4400" dirty="0"/>
          </a:p>
        </p:txBody>
      </p:sp>
      <p:sp>
        <p:nvSpPr>
          <p:cNvPr id="6" name="Text 4"/>
          <p:cNvSpPr/>
          <p:nvPr/>
        </p:nvSpPr>
        <p:spPr>
          <a:xfrm>
            <a:off x="3383280" y="1719072"/>
            <a:ext cx="2651760" cy="320040"/>
          </a:xfrm>
          <a:prstGeom prst="rect">
            <a:avLst/>
          </a:prstGeom>
          <a:noFill/>
          <a:ln/>
        </p:spPr>
        <p:txBody>
          <a:bodyPr wrap="square" lIns="0" tIns="0" rIns="0" bIns="0" rtlCol="0" anchor="ctr"/>
          <a:lstStyle/>
          <a:p>
            <a:pPr algn="ctr" indent="0" marL="0">
              <a:buNone/>
            </a:pPr>
            <a:r>
              <a:rPr lang="en-US" sz="1400" dirty="0">
                <a:solidFill>
                  <a:srgbClr val="5B6E63"/>
                </a:solidFill>
                <a:latin typeface="Calibri" pitchFamily="34" charset="0"/>
                <a:ea typeface="Calibri" pitchFamily="34" charset="-122"/>
                <a:cs typeface="Calibri" pitchFamily="34" charset="-120"/>
              </a:rPr>
              <a:t>Partien</a:t>
            </a:r>
            <a:endParaRPr lang="en-US" sz="1400" dirty="0"/>
          </a:p>
        </p:txBody>
      </p:sp>
      <p:sp>
        <p:nvSpPr>
          <p:cNvPr id="7" name="Text 5"/>
          <p:cNvSpPr/>
          <p:nvPr/>
        </p:nvSpPr>
        <p:spPr>
          <a:xfrm>
            <a:off x="6263640" y="1005840"/>
            <a:ext cx="2651760" cy="685800"/>
          </a:xfrm>
          <a:prstGeom prst="rect">
            <a:avLst/>
          </a:prstGeom>
          <a:noFill/>
          <a:ln/>
        </p:spPr>
        <p:txBody>
          <a:bodyPr wrap="square" lIns="0" tIns="0" rIns="0" bIns="0" rtlCol="0" anchor="ctr"/>
          <a:lstStyle/>
          <a:p>
            <a:pPr algn="ctr" indent="0" marL="0">
              <a:buNone/>
            </a:pPr>
            <a:r>
              <a:rPr lang="en-US" sz="4400" b="1" dirty="0">
                <a:solidFill>
                  <a:srgbClr val="1B5E3B"/>
                </a:solidFill>
                <a:latin typeface="Cambria" pitchFamily="34" charset="0"/>
                <a:ea typeface="Cambria" pitchFamily="34" charset="-122"/>
                <a:cs typeface="Cambria" pitchFamily="34" charset="-120"/>
              </a:rPr>
              <a:t>18.384</a:t>
            </a:r>
            <a:endParaRPr lang="en-US" sz="4400" dirty="0"/>
          </a:p>
        </p:txBody>
      </p:sp>
      <p:sp>
        <p:nvSpPr>
          <p:cNvPr id="8" name="Text 6"/>
          <p:cNvSpPr/>
          <p:nvPr/>
        </p:nvSpPr>
        <p:spPr>
          <a:xfrm>
            <a:off x="6263640" y="1719072"/>
            <a:ext cx="2651760" cy="320040"/>
          </a:xfrm>
          <a:prstGeom prst="rect">
            <a:avLst/>
          </a:prstGeom>
          <a:noFill/>
          <a:ln/>
        </p:spPr>
        <p:txBody>
          <a:bodyPr wrap="square" lIns="0" tIns="0" rIns="0" bIns="0" rtlCol="0" anchor="ctr"/>
          <a:lstStyle/>
          <a:p>
            <a:pPr algn="ctr" indent="0" marL="0">
              <a:buNone/>
            </a:pPr>
            <a:r>
              <a:rPr lang="en-US" sz="1400" dirty="0">
                <a:solidFill>
                  <a:srgbClr val="5B6E63"/>
                </a:solidFill>
                <a:latin typeface="Calibri" pitchFamily="34" charset="0"/>
                <a:ea typeface="Calibri" pitchFamily="34" charset="-122"/>
                <a:cs typeface="Calibri" pitchFamily="34" charset="-120"/>
              </a:rPr>
              <a:t>Turniere</a:t>
            </a:r>
            <a:endParaRPr lang="en-US" sz="1400" dirty="0"/>
          </a:p>
        </p:txBody>
      </p:sp>
      <p:sp>
        <p:nvSpPr>
          <p:cNvPr id="9" name="Text 7"/>
          <p:cNvSpPr/>
          <p:nvPr/>
        </p:nvSpPr>
        <p:spPr>
          <a:xfrm>
            <a:off x="502920" y="2240280"/>
            <a:ext cx="8138160" cy="320040"/>
          </a:xfrm>
          <a:prstGeom prst="rect">
            <a:avLst/>
          </a:prstGeom>
          <a:noFill/>
          <a:ln/>
        </p:spPr>
        <p:txBody>
          <a:bodyPr wrap="square" lIns="0" tIns="0" rIns="0" bIns="0" rtlCol="0" anchor="ctr"/>
          <a:lstStyle/>
          <a:p>
            <a:pPr algn="ctr" indent="0" marL="0">
              <a:buNone/>
            </a:pPr>
            <a:r>
              <a:rPr lang="en-US" sz="1400" dirty="0">
                <a:solidFill>
                  <a:srgbClr val="5B6E63"/>
                </a:solidFill>
                <a:latin typeface="Calibri" pitchFamily="34" charset="0"/>
                <a:ea typeface="Calibri" pitchFamily="34" charset="-122"/>
                <a:cs typeface="Calibri" pitchFamily="34" charset="-120"/>
              </a:rPr>
              <a:t>dazu 1.833 Vereine  ·  6.055 Ligen  ·  21 Verbände</a:t>
            </a:r>
            <a:endParaRPr lang="en-US" sz="1400" dirty="0"/>
          </a:p>
        </p:txBody>
      </p:sp>
      <p:sp>
        <p:nvSpPr>
          <p:cNvPr id="10" name="Text 8"/>
          <p:cNvSpPr/>
          <p:nvPr/>
        </p:nvSpPr>
        <p:spPr>
          <a:xfrm>
            <a:off x="822960" y="2852928"/>
            <a:ext cx="7498080" cy="274320"/>
          </a:xfrm>
          <a:prstGeom prst="rect">
            <a:avLst/>
          </a:prstGeom>
          <a:noFill/>
          <a:ln/>
        </p:spPr>
        <p:txBody>
          <a:bodyPr wrap="square" lIns="0" tIns="0" rIns="0" bIns="0" rtlCol="0" anchor="ctr"/>
          <a:lstStyle/>
          <a:p>
            <a:pPr algn="ctr" indent="0" marL="0">
              <a:buNone/>
            </a:pPr>
            <a:r>
              <a:rPr lang="en-US" sz="1200" i="1" dirty="0">
                <a:solidFill>
                  <a:srgbClr val="5B6E63"/>
                </a:solidFill>
                <a:latin typeface="Calibri" pitchFamily="34" charset="0"/>
                <a:ea typeface="Calibri" pitchFamily="34" charset="-122"/>
                <a:cs typeface="Calibri" pitchFamily="34" charset="-120"/>
              </a:rPr>
              <a:t>durchgängige Turnier- und Liga-Historie</a:t>
            </a:r>
            <a:endParaRPr lang="en-US" sz="1200" dirty="0"/>
          </a:p>
        </p:txBody>
      </p:sp>
      <p:sp>
        <p:nvSpPr>
          <p:cNvPr id="11" name="Shape 9"/>
          <p:cNvSpPr/>
          <p:nvPr/>
        </p:nvSpPr>
        <p:spPr>
          <a:xfrm>
            <a:off x="822960" y="3429000"/>
            <a:ext cx="7498080" cy="0"/>
          </a:xfrm>
          <a:prstGeom prst="line">
            <a:avLst/>
          </a:prstGeom>
          <a:noFill/>
          <a:ln w="31750">
            <a:solidFill>
              <a:srgbClr val="1B5E3B"/>
            </a:solidFill>
            <a:prstDash val="solid"/>
          </a:ln>
        </p:spPr>
      </p:sp>
      <p:sp>
        <p:nvSpPr>
          <p:cNvPr id="12" name="Shape 10"/>
          <p:cNvSpPr/>
          <p:nvPr/>
        </p:nvSpPr>
        <p:spPr>
          <a:xfrm>
            <a:off x="763524" y="3369564"/>
            <a:ext cx="118872" cy="118872"/>
          </a:xfrm>
          <a:prstGeom prst="ellipse">
            <a:avLst/>
          </a:prstGeom>
          <a:solidFill>
            <a:srgbClr val="1B5E3B"/>
          </a:solidFill>
          <a:ln/>
        </p:spPr>
      </p:sp>
      <p:sp>
        <p:nvSpPr>
          <p:cNvPr id="13" name="Shape 11"/>
          <p:cNvSpPr/>
          <p:nvPr/>
        </p:nvSpPr>
        <p:spPr>
          <a:xfrm>
            <a:off x="1232154" y="3369564"/>
            <a:ext cx="118872" cy="118872"/>
          </a:xfrm>
          <a:prstGeom prst="ellipse">
            <a:avLst/>
          </a:prstGeom>
          <a:solidFill>
            <a:srgbClr val="1B5E3B"/>
          </a:solidFill>
          <a:ln/>
        </p:spPr>
      </p:sp>
      <p:sp>
        <p:nvSpPr>
          <p:cNvPr id="14" name="Shape 12"/>
          <p:cNvSpPr/>
          <p:nvPr/>
        </p:nvSpPr>
        <p:spPr>
          <a:xfrm>
            <a:off x="1700784" y="3369564"/>
            <a:ext cx="118872" cy="118872"/>
          </a:xfrm>
          <a:prstGeom prst="ellipse">
            <a:avLst/>
          </a:prstGeom>
          <a:solidFill>
            <a:srgbClr val="1B5E3B"/>
          </a:solidFill>
          <a:ln/>
        </p:spPr>
      </p:sp>
      <p:sp>
        <p:nvSpPr>
          <p:cNvPr id="15" name="Shape 13"/>
          <p:cNvSpPr/>
          <p:nvPr/>
        </p:nvSpPr>
        <p:spPr>
          <a:xfrm>
            <a:off x="2169414" y="3369564"/>
            <a:ext cx="118872" cy="118872"/>
          </a:xfrm>
          <a:prstGeom prst="ellipse">
            <a:avLst/>
          </a:prstGeom>
          <a:solidFill>
            <a:srgbClr val="1B5E3B"/>
          </a:solidFill>
          <a:ln/>
        </p:spPr>
      </p:sp>
      <p:sp>
        <p:nvSpPr>
          <p:cNvPr id="16" name="Shape 14"/>
          <p:cNvSpPr/>
          <p:nvPr/>
        </p:nvSpPr>
        <p:spPr>
          <a:xfrm>
            <a:off x="2638044" y="3369564"/>
            <a:ext cx="118872" cy="118872"/>
          </a:xfrm>
          <a:prstGeom prst="ellipse">
            <a:avLst/>
          </a:prstGeom>
          <a:solidFill>
            <a:srgbClr val="1B5E3B"/>
          </a:solidFill>
          <a:ln/>
        </p:spPr>
      </p:sp>
      <p:sp>
        <p:nvSpPr>
          <p:cNvPr id="17" name="Shape 15"/>
          <p:cNvSpPr/>
          <p:nvPr/>
        </p:nvSpPr>
        <p:spPr>
          <a:xfrm>
            <a:off x="3106674" y="3369564"/>
            <a:ext cx="118872" cy="118872"/>
          </a:xfrm>
          <a:prstGeom prst="ellipse">
            <a:avLst/>
          </a:prstGeom>
          <a:solidFill>
            <a:srgbClr val="1B5E3B"/>
          </a:solidFill>
          <a:ln/>
        </p:spPr>
      </p:sp>
      <p:sp>
        <p:nvSpPr>
          <p:cNvPr id="18" name="Shape 16"/>
          <p:cNvSpPr/>
          <p:nvPr/>
        </p:nvSpPr>
        <p:spPr>
          <a:xfrm>
            <a:off x="3575304" y="3369564"/>
            <a:ext cx="118872" cy="118872"/>
          </a:xfrm>
          <a:prstGeom prst="ellipse">
            <a:avLst/>
          </a:prstGeom>
          <a:solidFill>
            <a:srgbClr val="1B5E3B"/>
          </a:solidFill>
          <a:ln/>
        </p:spPr>
      </p:sp>
      <p:sp>
        <p:nvSpPr>
          <p:cNvPr id="19" name="Shape 17"/>
          <p:cNvSpPr/>
          <p:nvPr/>
        </p:nvSpPr>
        <p:spPr>
          <a:xfrm>
            <a:off x="4043934" y="3369564"/>
            <a:ext cx="118872" cy="118872"/>
          </a:xfrm>
          <a:prstGeom prst="ellipse">
            <a:avLst/>
          </a:prstGeom>
          <a:solidFill>
            <a:srgbClr val="1B5E3B"/>
          </a:solidFill>
          <a:ln/>
        </p:spPr>
      </p:sp>
      <p:sp>
        <p:nvSpPr>
          <p:cNvPr id="20" name="Shape 18"/>
          <p:cNvSpPr/>
          <p:nvPr/>
        </p:nvSpPr>
        <p:spPr>
          <a:xfrm>
            <a:off x="4512564" y="3369564"/>
            <a:ext cx="118872" cy="118872"/>
          </a:xfrm>
          <a:prstGeom prst="ellipse">
            <a:avLst/>
          </a:prstGeom>
          <a:solidFill>
            <a:srgbClr val="1B5E3B"/>
          </a:solidFill>
          <a:ln/>
        </p:spPr>
      </p:sp>
      <p:sp>
        <p:nvSpPr>
          <p:cNvPr id="21" name="Shape 19"/>
          <p:cNvSpPr/>
          <p:nvPr/>
        </p:nvSpPr>
        <p:spPr>
          <a:xfrm>
            <a:off x="4981194" y="3369564"/>
            <a:ext cx="118872" cy="118872"/>
          </a:xfrm>
          <a:prstGeom prst="ellipse">
            <a:avLst/>
          </a:prstGeom>
          <a:solidFill>
            <a:srgbClr val="1B5E3B"/>
          </a:solidFill>
          <a:ln/>
        </p:spPr>
      </p:sp>
      <p:sp>
        <p:nvSpPr>
          <p:cNvPr id="22" name="Shape 20"/>
          <p:cNvSpPr/>
          <p:nvPr/>
        </p:nvSpPr>
        <p:spPr>
          <a:xfrm>
            <a:off x="5449824" y="3369564"/>
            <a:ext cx="118872" cy="118872"/>
          </a:xfrm>
          <a:prstGeom prst="ellipse">
            <a:avLst/>
          </a:prstGeom>
          <a:solidFill>
            <a:srgbClr val="1B5E3B"/>
          </a:solidFill>
          <a:ln/>
        </p:spPr>
      </p:sp>
      <p:sp>
        <p:nvSpPr>
          <p:cNvPr id="23" name="Shape 21"/>
          <p:cNvSpPr/>
          <p:nvPr/>
        </p:nvSpPr>
        <p:spPr>
          <a:xfrm>
            <a:off x="5918454" y="3369564"/>
            <a:ext cx="118872" cy="118872"/>
          </a:xfrm>
          <a:prstGeom prst="ellipse">
            <a:avLst/>
          </a:prstGeom>
          <a:solidFill>
            <a:srgbClr val="1B5E3B"/>
          </a:solidFill>
          <a:ln/>
        </p:spPr>
      </p:sp>
      <p:sp>
        <p:nvSpPr>
          <p:cNvPr id="24" name="Shape 22"/>
          <p:cNvSpPr/>
          <p:nvPr/>
        </p:nvSpPr>
        <p:spPr>
          <a:xfrm>
            <a:off x="6387084" y="3369564"/>
            <a:ext cx="118872" cy="118872"/>
          </a:xfrm>
          <a:prstGeom prst="ellipse">
            <a:avLst/>
          </a:prstGeom>
          <a:solidFill>
            <a:srgbClr val="1B5E3B"/>
          </a:solidFill>
          <a:ln/>
        </p:spPr>
      </p:sp>
      <p:sp>
        <p:nvSpPr>
          <p:cNvPr id="25" name="Shape 23"/>
          <p:cNvSpPr/>
          <p:nvPr/>
        </p:nvSpPr>
        <p:spPr>
          <a:xfrm>
            <a:off x="6855714" y="3369564"/>
            <a:ext cx="118872" cy="118872"/>
          </a:xfrm>
          <a:prstGeom prst="ellipse">
            <a:avLst/>
          </a:prstGeom>
          <a:solidFill>
            <a:srgbClr val="1B5E3B"/>
          </a:solidFill>
          <a:ln/>
        </p:spPr>
      </p:sp>
      <p:sp>
        <p:nvSpPr>
          <p:cNvPr id="26" name="Shape 24"/>
          <p:cNvSpPr/>
          <p:nvPr/>
        </p:nvSpPr>
        <p:spPr>
          <a:xfrm>
            <a:off x="7324344" y="3369564"/>
            <a:ext cx="118872" cy="118872"/>
          </a:xfrm>
          <a:prstGeom prst="ellipse">
            <a:avLst/>
          </a:prstGeom>
          <a:solidFill>
            <a:srgbClr val="1B5E3B"/>
          </a:solidFill>
          <a:ln/>
        </p:spPr>
      </p:sp>
      <p:sp>
        <p:nvSpPr>
          <p:cNvPr id="27" name="Shape 25"/>
          <p:cNvSpPr/>
          <p:nvPr/>
        </p:nvSpPr>
        <p:spPr>
          <a:xfrm>
            <a:off x="7792974" y="3369564"/>
            <a:ext cx="118872" cy="118872"/>
          </a:xfrm>
          <a:prstGeom prst="ellipse">
            <a:avLst/>
          </a:prstGeom>
          <a:solidFill>
            <a:srgbClr val="1B5E3B"/>
          </a:solidFill>
          <a:ln/>
        </p:spPr>
      </p:sp>
      <p:sp>
        <p:nvSpPr>
          <p:cNvPr id="28" name="Shape 26"/>
          <p:cNvSpPr/>
          <p:nvPr/>
        </p:nvSpPr>
        <p:spPr>
          <a:xfrm>
            <a:off x="8220456" y="3328416"/>
            <a:ext cx="201168" cy="201168"/>
          </a:xfrm>
          <a:prstGeom prst="ellipse">
            <a:avLst/>
          </a:prstGeom>
          <a:solidFill>
            <a:srgbClr val="D9A82B"/>
          </a:solidFill>
          <a:ln/>
        </p:spPr>
      </p:sp>
      <p:sp>
        <p:nvSpPr>
          <p:cNvPr id="29" name="Text 27"/>
          <p:cNvSpPr/>
          <p:nvPr/>
        </p:nvSpPr>
        <p:spPr>
          <a:xfrm>
            <a:off x="365760" y="3611880"/>
            <a:ext cx="914400" cy="274320"/>
          </a:xfrm>
          <a:prstGeom prst="rect">
            <a:avLst/>
          </a:prstGeom>
          <a:noFill/>
          <a:ln/>
        </p:spPr>
        <p:txBody>
          <a:bodyPr wrap="square" lIns="0" tIns="0" rIns="0" bIns="0" rtlCol="0" anchor="ctr"/>
          <a:lstStyle/>
          <a:p>
            <a:pPr algn="ctr" indent="0" marL="0">
              <a:buNone/>
            </a:pPr>
            <a:r>
              <a:rPr lang="en-US" sz="1100" b="1" dirty="0">
                <a:solidFill>
                  <a:srgbClr val="1C2B24"/>
                </a:solidFill>
                <a:latin typeface="Calibri" pitchFamily="34" charset="0"/>
                <a:ea typeface="Calibri" pitchFamily="34" charset="-122"/>
                <a:cs typeface="Calibri" pitchFamily="34" charset="-120"/>
              </a:rPr>
              <a:t>2009/10</a:t>
            </a:r>
            <a:endParaRPr lang="en-US" sz="1100" dirty="0"/>
          </a:p>
        </p:txBody>
      </p:sp>
      <p:sp>
        <p:nvSpPr>
          <p:cNvPr id="30" name="Text 28"/>
          <p:cNvSpPr/>
          <p:nvPr/>
        </p:nvSpPr>
        <p:spPr>
          <a:xfrm>
            <a:off x="7863840" y="3611880"/>
            <a:ext cx="914400" cy="274320"/>
          </a:xfrm>
          <a:prstGeom prst="rect">
            <a:avLst/>
          </a:prstGeom>
          <a:noFill/>
          <a:ln/>
        </p:spPr>
        <p:txBody>
          <a:bodyPr wrap="square" lIns="0" tIns="0" rIns="0" bIns="0" rtlCol="0" anchor="ctr"/>
          <a:lstStyle/>
          <a:p>
            <a:pPr algn="ctr" indent="0" marL="0">
              <a:buNone/>
            </a:pPr>
            <a:r>
              <a:rPr lang="en-US" sz="1100" b="1" dirty="0">
                <a:solidFill>
                  <a:srgbClr val="7A5A10"/>
                </a:solidFill>
                <a:latin typeface="Calibri" pitchFamily="34" charset="0"/>
                <a:ea typeface="Calibri" pitchFamily="34" charset="-122"/>
                <a:cs typeface="Calibri" pitchFamily="34" charset="-120"/>
              </a:rPr>
              <a:t>2025/26</a:t>
            </a:r>
            <a:endParaRPr lang="en-US" sz="1100" dirty="0"/>
          </a:p>
        </p:txBody>
      </p:sp>
      <p:sp>
        <p:nvSpPr>
          <p:cNvPr id="31" name="Text 29"/>
          <p:cNvSpPr/>
          <p:nvPr/>
        </p:nvSpPr>
        <p:spPr>
          <a:xfrm>
            <a:off x="822960" y="4023360"/>
            <a:ext cx="7498080" cy="685800"/>
          </a:xfrm>
          <a:prstGeom prst="rect">
            <a:avLst/>
          </a:prstGeom>
          <a:noFill/>
          <a:ln/>
        </p:spPr>
        <p:txBody>
          <a:bodyPr wrap="square" lIns="0" tIns="0" rIns="0" bIns="0" rtlCol="0" anchor="ctr"/>
          <a:lstStyle/>
          <a:p>
            <a:pPr algn="ctr" indent="0" marL="0">
              <a:buNone/>
            </a:pPr>
            <a:r>
              <a:rPr lang="en-US" sz="1350" dirty="0">
                <a:solidFill>
                  <a:srgbClr val="1C2B24"/>
                </a:solidFill>
                <a:latin typeface="Calibri" pitchFamily="34" charset="0"/>
                <a:ea typeface="Calibri" pitchFamily="34" charset="-122"/>
                <a:cs typeface="Calibri" pitchFamily="34" charset="-120"/>
              </a:rPr>
              <a:t>Jede neue Partie landet nicht in einem leeren System, sondern im Kontext von 17 Jahren: Spielerentwicklung, Ranglisten, Vereins- und Ligahistorie — konsolidiert aus den offiziellen Verbandsquellen.</a:t>
            </a:r>
            <a:endParaRPr lang="en-US" sz="1350" dirty="0"/>
          </a:p>
        </p:txBody>
      </p:sp>
      <p:sp>
        <p:nvSpPr>
          <p:cNvPr id="32" name="Text 30"/>
          <p:cNvSpPr/>
          <p:nvPr/>
        </p:nvSpPr>
        <p:spPr>
          <a:xfrm>
            <a:off x="502920" y="4773168"/>
            <a:ext cx="8138160" cy="228600"/>
          </a:xfrm>
          <a:prstGeom prst="rect">
            <a:avLst/>
          </a:prstGeom>
          <a:noFill/>
          <a:ln/>
        </p:spPr>
        <p:txBody>
          <a:bodyPr wrap="square" lIns="0" tIns="0" rIns="0" bIns="0" rtlCol="0" anchor="ctr"/>
          <a:lstStyle/>
          <a:p>
            <a:pPr algn="ctr" indent="0" marL="0">
              <a:buNone/>
            </a:pPr>
            <a:r>
              <a:rPr lang="en-US" sz="950" dirty="0">
                <a:solidFill>
                  <a:srgbClr val="5B6E63"/>
                </a:solidFill>
                <a:latin typeface="Calibri" pitchFamily="34" charset="0"/>
                <a:ea typeface="Calibri" pitchFamily="34" charset="-122"/>
                <a:cs typeface="Calibri" pitchFamily="34" charset="-120"/>
              </a:rPr>
              <a:t>Stand Juli 2026 · zentrale Carambus-Datenbank</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8229600" cy="502920"/>
          </a:xfrm>
          <a:prstGeom prst="rect">
            <a:avLst/>
          </a:prstGeom>
          <a:noFill/>
          <a:ln/>
        </p:spPr>
        <p:txBody>
          <a:bodyPr wrap="square" lIns="0" tIns="0" rIns="0" bIns="0" rtlCol="0" anchor="ctr"/>
          <a:lstStyle/>
          <a:p>
            <a:pPr indent="0" marL="0">
              <a:buNone/>
            </a:pPr>
            <a:r>
              <a:rPr lang="en-US" sz="2600" b="1" dirty="0">
                <a:solidFill>
                  <a:srgbClr val="0E3D28"/>
                </a:solidFill>
                <a:latin typeface="Cambria" pitchFamily="34" charset="0"/>
                <a:ea typeface="Cambria" pitchFamily="34" charset="-122"/>
                <a:cs typeface="Cambria" pitchFamily="34" charset="-120"/>
              </a:rPr>
              <a:t>Einmal erfassen — alles fließt automatisch</a:t>
            </a:r>
            <a:endParaRPr lang="en-US" sz="2600" dirty="0"/>
          </a:p>
        </p:txBody>
      </p:sp>
      <p:sp>
        <p:nvSpPr>
          <p:cNvPr id="3" name="Shape 1"/>
          <p:cNvSpPr/>
          <p:nvPr/>
        </p:nvSpPr>
        <p:spPr>
          <a:xfrm>
            <a:off x="502920" y="1371600"/>
            <a:ext cx="1783080" cy="2148840"/>
          </a:xfrm>
          <a:prstGeom prst="roundRect">
            <a:avLst>
              <a:gd name="adj" fmla="val 4103"/>
            </a:avLst>
          </a:prstGeom>
          <a:solidFill>
            <a:srgbClr val="F4F8F5"/>
          </a:solidFill>
          <a:ln/>
          <a:effectLst>
            <a:outerShdw sx="100000" sy="100000" kx="0" ky="0" algn="bl" rotWithShape="0" blurRad="88900" dist="25400" dir="2700000">
              <a:srgbClr val="000000">
                <a:alpha val="14000"/>
              </a:srgbClr>
            </a:outerShdw>
          </a:effectLst>
        </p:spPr>
      </p:sp>
      <p:sp>
        <p:nvSpPr>
          <p:cNvPr id="4" name="Shape 2"/>
          <p:cNvSpPr/>
          <p:nvPr/>
        </p:nvSpPr>
        <p:spPr>
          <a:xfrm>
            <a:off x="1120140" y="1600200"/>
            <a:ext cx="548640" cy="548640"/>
          </a:xfrm>
          <a:prstGeom prst="ellipse">
            <a:avLst/>
          </a:prstGeom>
          <a:solidFill>
            <a:srgbClr val="1B5E3B"/>
          </a:solidFill>
          <a:ln/>
        </p:spPr>
      </p:sp>
      <p:pic>
        <p:nvPicPr>
          <p:cNvPr id="5" name="Image 0" descr="preencoded.png">    </p:cNvPr>
          <p:cNvPicPr>
            <a:picLocks noChangeAspect="1"/>
          </p:cNvPicPr>
          <p:nvPr/>
        </p:nvPicPr>
        <p:blipFill>
          <a:blip r:embed="rId1"/>
          <a:stretch>
            <a:fillRect/>
          </a:stretch>
        </p:blipFill>
        <p:spPr>
          <a:xfrm>
            <a:off x="1257300" y="1737360"/>
            <a:ext cx="274320" cy="274320"/>
          </a:xfrm>
          <a:prstGeom prst="rect">
            <a:avLst/>
          </a:prstGeom>
        </p:spPr>
      </p:pic>
      <p:sp>
        <p:nvSpPr>
          <p:cNvPr id="6" name="Text 3"/>
          <p:cNvSpPr/>
          <p:nvPr/>
        </p:nvSpPr>
        <p:spPr>
          <a:xfrm>
            <a:off x="594360" y="2286000"/>
            <a:ext cx="1600200" cy="292608"/>
          </a:xfrm>
          <a:prstGeom prst="rect">
            <a:avLst/>
          </a:prstGeom>
          <a:noFill/>
          <a:ln/>
        </p:spPr>
        <p:txBody>
          <a:bodyPr wrap="square" lIns="0" tIns="0" rIns="0" bIns="0" rtlCol="0" anchor="ctr"/>
          <a:lstStyle/>
          <a:p>
            <a:pPr algn="ctr" indent="0" marL="0">
              <a:buNone/>
            </a:pPr>
            <a:r>
              <a:rPr lang="en-US" sz="1300" b="1" dirty="0">
                <a:solidFill>
                  <a:srgbClr val="0E3D28"/>
                </a:solidFill>
                <a:latin typeface="Calibri" pitchFamily="34" charset="0"/>
                <a:ea typeface="Calibri" pitchFamily="34" charset="-122"/>
                <a:cs typeface="Calibri" pitchFamily="34" charset="-120"/>
              </a:rPr>
              <a:t>Am Tisch</a:t>
            </a:r>
            <a:endParaRPr lang="en-US" sz="1300" dirty="0"/>
          </a:p>
        </p:txBody>
      </p:sp>
      <p:sp>
        <p:nvSpPr>
          <p:cNvPr id="7" name="Text 4"/>
          <p:cNvSpPr/>
          <p:nvPr/>
        </p:nvSpPr>
        <p:spPr>
          <a:xfrm>
            <a:off x="649224" y="2606040"/>
            <a:ext cx="1490472" cy="822960"/>
          </a:xfrm>
          <a:prstGeom prst="rect">
            <a:avLst/>
          </a:prstGeom>
          <a:noFill/>
          <a:ln/>
        </p:spPr>
        <p:txBody>
          <a:bodyPr wrap="square" lIns="0" tIns="0" rIns="0" bIns="0" rtlCol="0" anchor="ctr"/>
          <a:lstStyle/>
          <a:p>
            <a:pPr algn="ctr" indent="0" marL="0">
              <a:buNone/>
            </a:pPr>
            <a:r>
              <a:rPr lang="en-US" sz="1050" dirty="0">
                <a:solidFill>
                  <a:srgbClr val="5B6E63"/>
                </a:solidFill>
                <a:latin typeface="Calibri" pitchFamily="34" charset="0"/>
                <a:ea typeface="Calibri" pitchFamily="34" charset="-122"/>
                <a:cs typeface="Calibri" pitchFamily="34" charset="-120"/>
              </a:rPr>
              <a:t>Punkte am Touch-Scoreboard erfassen — dort, wo sie entstehen</a:t>
            </a:r>
            <a:endParaRPr lang="en-US" sz="1050" dirty="0"/>
          </a:p>
        </p:txBody>
      </p:sp>
      <p:sp>
        <p:nvSpPr>
          <p:cNvPr id="8" name="Shape 5"/>
          <p:cNvSpPr/>
          <p:nvPr/>
        </p:nvSpPr>
        <p:spPr>
          <a:xfrm>
            <a:off x="2322576" y="2423160"/>
            <a:ext cx="246888" cy="0"/>
          </a:xfrm>
          <a:prstGeom prst="line">
            <a:avLst/>
          </a:prstGeom>
          <a:noFill/>
          <a:ln w="38100">
            <a:solidFill>
              <a:srgbClr val="D9A82B"/>
            </a:solidFill>
            <a:prstDash val="solid"/>
            <a:tailEnd type="triangle"/>
          </a:ln>
        </p:spPr>
      </p:sp>
      <p:sp>
        <p:nvSpPr>
          <p:cNvPr id="9" name="Shape 6"/>
          <p:cNvSpPr/>
          <p:nvPr/>
        </p:nvSpPr>
        <p:spPr>
          <a:xfrm>
            <a:off x="2606040" y="1371600"/>
            <a:ext cx="1783080" cy="2148840"/>
          </a:xfrm>
          <a:prstGeom prst="roundRect">
            <a:avLst>
              <a:gd name="adj" fmla="val 4103"/>
            </a:avLst>
          </a:prstGeom>
          <a:solidFill>
            <a:srgbClr val="F4F8F5"/>
          </a:solidFill>
          <a:ln/>
          <a:effectLst>
            <a:outerShdw sx="100000" sy="100000" kx="0" ky="0" algn="bl" rotWithShape="0" blurRad="88900" dist="25400" dir="2700000">
              <a:srgbClr val="000000">
                <a:alpha val="14000"/>
              </a:srgbClr>
            </a:outerShdw>
          </a:effectLst>
        </p:spPr>
      </p:sp>
      <p:sp>
        <p:nvSpPr>
          <p:cNvPr id="10" name="Shape 7"/>
          <p:cNvSpPr/>
          <p:nvPr/>
        </p:nvSpPr>
        <p:spPr>
          <a:xfrm>
            <a:off x="3223260" y="1600200"/>
            <a:ext cx="548640" cy="548640"/>
          </a:xfrm>
          <a:prstGeom prst="ellipse">
            <a:avLst/>
          </a:prstGeom>
          <a:solidFill>
            <a:srgbClr val="1B5E3B"/>
          </a:solidFill>
          <a:ln/>
        </p:spPr>
      </p:sp>
      <p:pic>
        <p:nvPicPr>
          <p:cNvPr id="11" name="Image 1" descr="preencoded.png">    </p:cNvPr>
          <p:cNvPicPr>
            <a:picLocks noChangeAspect="1"/>
          </p:cNvPicPr>
          <p:nvPr/>
        </p:nvPicPr>
        <p:blipFill>
          <a:blip r:embed="rId2"/>
          <a:stretch>
            <a:fillRect/>
          </a:stretch>
        </p:blipFill>
        <p:spPr>
          <a:xfrm>
            <a:off x="3360420" y="1737360"/>
            <a:ext cx="274320" cy="274320"/>
          </a:xfrm>
          <a:prstGeom prst="rect">
            <a:avLst/>
          </a:prstGeom>
        </p:spPr>
      </p:pic>
      <p:sp>
        <p:nvSpPr>
          <p:cNvPr id="12" name="Text 8"/>
          <p:cNvSpPr/>
          <p:nvPr/>
        </p:nvSpPr>
        <p:spPr>
          <a:xfrm>
            <a:off x="2697480" y="2286000"/>
            <a:ext cx="1600200" cy="292608"/>
          </a:xfrm>
          <a:prstGeom prst="rect">
            <a:avLst/>
          </a:prstGeom>
          <a:noFill/>
          <a:ln/>
        </p:spPr>
        <p:txBody>
          <a:bodyPr wrap="square" lIns="0" tIns="0" rIns="0" bIns="0" rtlCol="0" anchor="ctr"/>
          <a:lstStyle/>
          <a:p>
            <a:pPr algn="ctr" indent="0" marL="0">
              <a:buNone/>
            </a:pPr>
            <a:r>
              <a:rPr lang="en-US" sz="1300" b="1" dirty="0">
                <a:solidFill>
                  <a:srgbClr val="0E3D28"/>
                </a:solidFill>
                <a:latin typeface="Calibri" pitchFamily="34" charset="0"/>
                <a:ea typeface="Calibri" pitchFamily="34" charset="-122"/>
                <a:cs typeface="Calibri" pitchFamily="34" charset="-120"/>
              </a:rPr>
              <a:t>Im Verein</a:t>
            </a:r>
            <a:endParaRPr lang="en-US" sz="1300" dirty="0"/>
          </a:p>
        </p:txBody>
      </p:sp>
      <p:sp>
        <p:nvSpPr>
          <p:cNvPr id="13" name="Text 9"/>
          <p:cNvSpPr/>
          <p:nvPr/>
        </p:nvSpPr>
        <p:spPr>
          <a:xfrm>
            <a:off x="2752344" y="2606040"/>
            <a:ext cx="1490472" cy="822960"/>
          </a:xfrm>
          <a:prstGeom prst="rect">
            <a:avLst/>
          </a:prstGeom>
          <a:noFill/>
          <a:ln/>
        </p:spPr>
        <p:txBody>
          <a:bodyPr wrap="square" lIns="0" tIns="0" rIns="0" bIns="0" rtlCol="0" anchor="ctr"/>
          <a:lstStyle/>
          <a:p>
            <a:pPr algn="ctr" indent="0" marL="0">
              <a:buNone/>
            </a:pPr>
            <a:r>
              <a:rPr lang="en-US" sz="1050" dirty="0">
                <a:solidFill>
                  <a:srgbClr val="5B6E63"/>
                </a:solidFill>
                <a:latin typeface="Calibri" pitchFamily="34" charset="0"/>
                <a:ea typeface="Calibri" pitchFamily="34" charset="-122"/>
                <a:cs typeface="Calibri" pitchFamily="34" charset="-120"/>
              </a:rPr>
              <a:t>Turnier- und Spieltags-Monitore aktualisieren sich live</a:t>
            </a:r>
            <a:endParaRPr lang="en-US" sz="1050" dirty="0"/>
          </a:p>
        </p:txBody>
      </p:sp>
      <p:sp>
        <p:nvSpPr>
          <p:cNvPr id="14" name="Shape 10"/>
          <p:cNvSpPr/>
          <p:nvPr/>
        </p:nvSpPr>
        <p:spPr>
          <a:xfrm>
            <a:off x="4425696" y="2423160"/>
            <a:ext cx="246888" cy="0"/>
          </a:xfrm>
          <a:prstGeom prst="line">
            <a:avLst/>
          </a:prstGeom>
          <a:noFill/>
          <a:ln w="38100">
            <a:solidFill>
              <a:srgbClr val="D9A82B"/>
            </a:solidFill>
            <a:prstDash val="solid"/>
            <a:tailEnd type="triangle"/>
          </a:ln>
        </p:spPr>
      </p:sp>
      <p:sp>
        <p:nvSpPr>
          <p:cNvPr id="15" name="Shape 11"/>
          <p:cNvSpPr/>
          <p:nvPr/>
        </p:nvSpPr>
        <p:spPr>
          <a:xfrm>
            <a:off x="4709160" y="1371600"/>
            <a:ext cx="1783080" cy="2148840"/>
          </a:xfrm>
          <a:prstGeom prst="roundRect">
            <a:avLst>
              <a:gd name="adj" fmla="val 4103"/>
            </a:avLst>
          </a:prstGeom>
          <a:solidFill>
            <a:srgbClr val="F4F8F5"/>
          </a:solidFill>
          <a:ln/>
          <a:effectLst>
            <a:outerShdw sx="100000" sy="100000" kx="0" ky="0" algn="bl" rotWithShape="0" blurRad="88900" dist="25400" dir="2700000">
              <a:srgbClr val="000000">
                <a:alpha val="14000"/>
              </a:srgbClr>
            </a:outerShdw>
          </a:effectLst>
        </p:spPr>
      </p:sp>
      <p:sp>
        <p:nvSpPr>
          <p:cNvPr id="16" name="Shape 12"/>
          <p:cNvSpPr/>
          <p:nvPr/>
        </p:nvSpPr>
        <p:spPr>
          <a:xfrm>
            <a:off x="5326380" y="1600200"/>
            <a:ext cx="548640" cy="548640"/>
          </a:xfrm>
          <a:prstGeom prst="ellipse">
            <a:avLst/>
          </a:prstGeom>
          <a:solidFill>
            <a:srgbClr val="1B5E3B"/>
          </a:solidFill>
          <a:ln/>
        </p:spPr>
      </p:sp>
      <p:pic>
        <p:nvPicPr>
          <p:cNvPr id="17" name="Image 2" descr="preencoded.png">    </p:cNvPr>
          <p:cNvPicPr>
            <a:picLocks noChangeAspect="1"/>
          </p:cNvPicPr>
          <p:nvPr/>
        </p:nvPicPr>
        <p:blipFill>
          <a:blip r:embed="rId3"/>
          <a:stretch>
            <a:fillRect/>
          </a:stretch>
        </p:blipFill>
        <p:spPr>
          <a:xfrm>
            <a:off x="5463540" y="1737360"/>
            <a:ext cx="274320" cy="274320"/>
          </a:xfrm>
          <a:prstGeom prst="rect">
            <a:avLst/>
          </a:prstGeom>
        </p:spPr>
      </p:pic>
      <p:sp>
        <p:nvSpPr>
          <p:cNvPr id="18" name="Text 13"/>
          <p:cNvSpPr/>
          <p:nvPr/>
        </p:nvSpPr>
        <p:spPr>
          <a:xfrm>
            <a:off x="4800600" y="2286000"/>
            <a:ext cx="1600200" cy="292608"/>
          </a:xfrm>
          <a:prstGeom prst="rect">
            <a:avLst/>
          </a:prstGeom>
          <a:noFill/>
          <a:ln/>
        </p:spPr>
        <p:txBody>
          <a:bodyPr wrap="square" lIns="0" tIns="0" rIns="0" bIns="0" rtlCol="0" anchor="ctr"/>
          <a:lstStyle/>
          <a:p>
            <a:pPr algn="ctr" indent="0" marL="0">
              <a:buNone/>
            </a:pPr>
            <a:r>
              <a:rPr lang="en-US" sz="1300" b="1" dirty="0">
                <a:solidFill>
                  <a:srgbClr val="0E3D28"/>
                </a:solidFill>
                <a:latin typeface="Calibri" pitchFamily="34" charset="0"/>
                <a:ea typeface="Calibri" pitchFamily="34" charset="-122"/>
                <a:cs typeface="Calibri" pitchFamily="34" charset="-120"/>
              </a:rPr>
              <a:t>Im Verbund</a:t>
            </a:r>
            <a:endParaRPr lang="en-US" sz="1300" dirty="0"/>
          </a:p>
        </p:txBody>
      </p:sp>
      <p:sp>
        <p:nvSpPr>
          <p:cNvPr id="19" name="Text 14"/>
          <p:cNvSpPr/>
          <p:nvPr/>
        </p:nvSpPr>
        <p:spPr>
          <a:xfrm>
            <a:off x="4855464" y="2606040"/>
            <a:ext cx="1490472" cy="822960"/>
          </a:xfrm>
          <a:prstGeom prst="rect">
            <a:avLst/>
          </a:prstGeom>
          <a:noFill/>
          <a:ln/>
        </p:spPr>
        <p:txBody>
          <a:bodyPr wrap="square" lIns="0" tIns="0" rIns="0" bIns="0" rtlCol="0" anchor="ctr"/>
          <a:lstStyle/>
          <a:p>
            <a:pPr algn="ctr" indent="0" marL="0">
              <a:buNone/>
            </a:pPr>
            <a:r>
              <a:rPr lang="en-US" sz="1050" dirty="0">
                <a:solidFill>
                  <a:srgbClr val="5B6E63"/>
                </a:solidFill>
                <a:latin typeface="Calibri" pitchFamily="34" charset="0"/>
                <a:ea typeface="Calibri" pitchFamily="34" charset="-122"/>
                <a:cs typeface="Calibri" pitchFamily="34" charset="-120"/>
              </a:rPr>
              <a:t>Zentrale führt Historie und Ranglisten zusammen</a:t>
            </a:r>
            <a:endParaRPr lang="en-US" sz="1050" dirty="0"/>
          </a:p>
        </p:txBody>
      </p:sp>
      <p:sp>
        <p:nvSpPr>
          <p:cNvPr id="20" name="Shape 15"/>
          <p:cNvSpPr/>
          <p:nvPr/>
        </p:nvSpPr>
        <p:spPr>
          <a:xfrm>
            <a:off x="6528816" y="2423160"/>
            <a:ext cx="246888" cy="0"/>
          </a:xfrm>
          <a:prstGeom prst="line">
            <a:avLst/>
          </a:prstGeom>
          <a:noFill/>
          <a:ln w="38100">
            <a:solidFill>
              <a:srgbClr val="D9A82B"/>
            </a:solidFill>
            <a:prstDash val="solid"/>
            <a:tailEnd type="triangle"/>
          </a:ln>
        </p:spPr>
      </p:sp>
      <p:sp>
        <p:nvSpPr>
          <p:cNvPr id="21" name="Shape 16"/>
          <p:cNvSpPr/>
          <p:nvPr/>
        </p:nvSpPr>
        <p:spPr>
          <a:xfrm>
            <a:off x="6812280" y="1371600"/>
            <a:ext cx="1783080" cy="2148840"/>
          </a:xfrm>
          <a:prstGeom prst="roundRect">
            <a:avLst>
              <a:gd name="adj" fmla="val 4103"/>
            </a:avLst>
          </a:prstGeom>
          <a:solidFill>
            <a:srgbClr val="F4F8F5"/>
          </a:solidFill>
          <a:ln/>
          <a:effectLst>
            <a:outerShdw sx="100000" sy="100000" kx="0" ky="0" algn="bl" rotWithShape="0" blurRad="88900" dist="25400" dir="2700000">
              <a:srgbClr val="000000">
                <a:alpha val="14000"/>
              </a:srgbClr>
            </a:outerShdw>
          </a:effectLst>
        </p:spPr>
      </p:sp>
      <p:sp>
        <p:nvSpPr>
          <p:cNvPr id="22" name="Shape 17"/>
          <p:cNvSpPr/>
          <p:nvPr/>
        </p:nvSpPr>
        <p:spPr>
          <a:xfrm>
            <a:off x="7429500" y="1600200"/>
            <a:ext cx="548640" cy="548640"/>
          </a:xfrm>
          <a:prstGeom prst="ellipse">
            <a:avLst/>
          </a:prstGeom>
          <a:solidFill>
            <a:srgbClr val="1B5E3B"/>
          </a:solidFill>
          <a:ln/>
        </p:spPr>
      </p:sp>
      <p:pic>
        <p:nvPicPr>
          <p:cNvPr id="23" name="Image 3" descr="preencoded.png">    </p:cNvPr>
          <p:cNvPicPr>
            <a:picLocks noChangeAspect="1"/>
          </p:cNvPicPr>
          <p:nvPr/>
        </p:nvPicPr>
        <p:blipFill>
          <a:blip r:embed="rId4"/>
          <a:stretch>
            <a:fillRect/>
          </a:stretch>
        </p:blipFill>
        <p:spPr>
          <a:xfrm>
            <a:off x="7566660" y="1737360"/>
            <a:ext cx="274320" cy="274320"/>
          </a:xfrm>
          <a:prstGeom prst="rect">
            <a:avLst/>
          </a:prstGeom>
        </p:spPr>
      </p:pic>
      <p:sp>
        <p:nvSpPr>
          <p:cNvPr id="24" name="Text 18"/>
          <p:cNvSpPr/>
          <p:nvPr/>
        </p:nvSpPr>
        <p:spPr>
          <a:xfrm>
            <a:off x="6903720" y="2286000"/>
            <a:ext cx="1600200" cy="292608"/>
          </a:xfrm>
          <a:prstGeom prst="rect">
            <a:avLst/>
          </a:prstGeom>
          <a:noFill/>
          <a:ln/>
        </p:spPr>
        <p:txBody>
          <a:bodyPr wrap="square" lIns="0" tIns="0" rIns="0" bIns="0" rtlCol="0" anchor="ctr"/>
          <a:lstStyle/>
          <a:p>
            <a:pPr algn="ctr" indent="0" marL="0">
              <a:buNone/>
            </a:pPr>
            <a:r>
              <a:rPr lang="en-US" sz="1300" b="1" dirty="0">
                <a:solidFill>
                  <a:srgbClr val="0E3D28"/>
                </a:solidFill>
                <a:latin typeface="Calibri" pitchFamily="34" charset="0"/>
                <a:ea typeface="Calibri" pitchFamily="34" charset="-122"/>
                <a:cs typeface="Calibri" pitchFamily="34" charset="-120"/>
              </a:rPr>
              <a:t>Zur ClubCloud</a:t>
            </a:r>
            <a:endParaRPr lang="en-US" sz="1300" dirty="0"/>
          </a:p>
        </p:txBody>
      </p:sp>
      <p:sp>
        <p:nvSpPr>
          <p:cNvPr id="25" name="Text 19"/>
          <p:cNvSpPr/>
          <p:nvPr/>
        </p:nvSpPr>
        <p:spPr>
          <a:xfrm>
            <a:off x="6958584" y="2606040"/>
            <a:ext cx="1490472" cy="822960"/>
          </a:xfrm>
          <a:prstGeom prst="rect">
            <a:avLst/>
          </a:prstGeom>
          <a:noFill/>
          <a:ln/>
        </p:spPr>
        <p:txBody>
          <a:bodyPr wrap="square" lIns="0" tIns="0" rIns="0" bIns="0" rtlCol="0" anchor="ctr"/>
          <a:lstStyle/>
          <a:p>
            <a:pPr algn="ctr" indent="0" marL="0">
              <a:buNone/>
            </a:pPr>
            <a:r>
              <a:rPr lang="en-US" sz="1050" dirty="0">
                <a:solidFill>
                  <a:srgbClr val="5B6E63"/>
                </a:solidFill>
                <a:latin typeface="Calibri" pitchFamily="34" charset="0"/>
                <a:ea typeface="Calibri" pitchFamily="34" charset="-122"/>
                <a:cs typeface="Calibri" pitchFamily="34" charset="-120"/>
              </a:rPr>
              <a:t>Ergebnisse und Meldungen fließen offiziell zurück</a:t>
            </a:r>
            <a:endParaRPr lang="en-US" sz="1050" dirty="0"/>
          </a:p>
        </p:txBody>
      </p:sp>
      <p:sp>
        <p:nvSpPr>
          <p:cNvPr id="26" name="Text 20"/>
          <p:cNvSpPr/>
          <p:nvPr/>
        </p:nvSpPr>
        <p:spPr>
          <a:xfrm>
            <a:off x="502920" y="3886200"/>
            <a:ext cx="8138160" cy="365760"/>
          </a:xfrm>
          <a:prstGeom prst="rect">
            <a:avLst/>
          </a:prstGeom>
          <a:noFill/>
          <a:ln/>
        </p:spPr>
        <p:txBody>
          <a:bodyPr wrap="square" lIns="0" tIns="0" rIns="0" bIns="0" rtlCol="0" anchor="ctr"/>
          <a:lstStyle/>
          <a:p>
            <a:pPr algn="ctr" indent="0" marL="0">
              <a:buNone/>
            </a:pPr>
            <a:r>
              <a:rPr lang="en-US" sz="1400" dirty="0">
                <a:solidFill>
                  <a:srgbClr val="1C2B24"/>
                </a:solidFill>
                <a:latin typeface="Calibri" pitchFamily="34" charset="0"/>
                <a:ea typeface="Calibri" pitchFamily="34" charset="-122"/>
                <a:cs typeface="Calibri" pitchFamily="34" charset="-120"/>
              </a:rPr>
              <a:t>Kein Abtippen, keine Übertragungsfehler: Das Ergebnis wird genau einmal eingegeben — am Tisch.</a:t>
            </a:r>
            <a:endParaRPr lang="en-US" sz="1400" dirty="0"/>
          </a:p>
        </p:txBody>
      </p:sp>
      <p:sp>
        <p:nvSpPr>
          <p:cNvPr id="27" name="Shape 21"/>
          <p:cNvSpPr/>
          <p:nvPr/>
        </p:nvSpPr>
        <p:spPr>
          <a:xfrm>
            <a:off x="2560320" y="4434840"/>
            <a:ext cx="4023360" cy="402336"/>
          </a:xfrm>
          <a:prstGeom prst="roundRect">
            <a:avLst>
              <a:gd name="adj" fmla="val 22727"/>
            </a:avLst>
          </a:prstGeom>
          <a:solidFill>
            <a:srgbClr val="EAF3EE"/>
          </a:solidFill>
          <a:ln/>
        </p:spPr>
      </p:sp>
      <p:sp>
        <p:nvSpPr>
          <p:cNvPr id="28" name="Text 22"/>
          <p:cNvSpPr/>
          <p:nvPr/>
        </p:nvSpPr>
        <p:spPr>
          <a:xfrm>
            <a:off x="2560320" y="4434840"/>
            <a:ext cx="4023360" cy="402336"/>
          </a:xfrm>
          <a:prstGeom prst="rect">
            <a:avLst/>
          </a:prstGeom>
          <a:noFill/>
          <a:ln/>
        </p:spPr>
        <p:txBody>
          <a:bodyPr wrap="square" lIns="0" tIns="0" rIns="0" bIns="0" rtlCol="0" anchor="ctr"/>
          <a:lstStyle/>
          <a:p>
            <a:pPr algn="ctr" indent="0" marL="0">
              <a:buNone/>
            </a:pPr>
            <a:r>
              <a:rPr lang="en-US" sz="1100" b="1" dirty="0">
                <a:solidFill>
                  <a:srgbClr val="0E3D28"/>
                </a:solidFill>
                <a:latin typeface="Calibri" pitchFamily="34" charset="0"/>
                <a:ea typeface="Calibri" pitchFamily="34" charset="-122"/>
                <a:cs typeface="Calibri" pitchFamily="34" charset="-120"/>
              </a:rPr>
              <a:t>Live seit 2022 im Billardclub Wedel 61 e.V.</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8229600" cy="502920"/>
          </a:xfrm>
          <a:prstGeom prst="rect">
            <a:avLst/>
          </a:prstGeom>
          <a:noFill/>
          <a:ln/>
        </p:spPr>
        <p:txBody>
          <a:bodyPr wrap="square" lIns="0" tIns="0" rIns="0" bIns="0" rtlCol="0" anchor="ctr"/>
          <a:lstStyle/>
          <a:p>
            <a:pPr indent="0" marL="0">
              <a:buNone/>
            </a:pPr>
            <a:r>
              <a:rPr lang="en-US" sz="2600" b="1" dirty="0">
                <a:solidFill>
                  <a:srgbClr val="0E3D28"/>
                </a:solidFill>
                <a:latin typeface="Cambria" pitchFamily="34" charset="0"/>
                <a:ea typeface="Cambria" pitchFamily="34" charset="-122"/>
                <a:cs typeface="Cambria" pitchFamily="34" charset="-120"/>
              </a:rPr>
              <a:t>Die ClubCloud bleibt das führende System</a:t>
            </a:r>
            <a:endParaRPr lang="en-US" sz="2600" dirty="0"/>
          </a:p>
        </p:txBody>
      </p:sp>
      <p:sp>
        <p:nvSpPr>
          <p:cNvPr id="3" name="Text 1"/>
          <p:cNvSpPr/>
          <p:nvPr/>
        </p:nvSpPr>
        <p:spPr>
          <a:xfrm>
            <a:off x="502920" y="1325880"/>
            <a:ext cx="4023360" cy="594360"/>
          </a:xfrm>
          <a:prstGeom prst="rect">
            <a:avLst/>
          </a:prstGeom>
          <a:noFill/>
          <a:ln/>
        </p:spPr>
        <p:txBody>
          <a:bodyPr wrap="square" lIns="0" tIns="0" rIns="0" bIns="0" rtlCol="0" anchor="ctr"/>
          <a:lstStyle/>
          <a:p>
            <a:pPr indent="0" marL="0">
              <a:buNone/>
            </a:pPr>
            <a:r>
              <a:rPr lang="en-US" sz="1500" b="1" dirty="0">
                <a:solidFill>
                  <a:srgbClr val="0E3D28"/>
                </a:solidFill>
                <a:latin typeface="Calibri" pitchFamily="34" charset="0"/>
                <a:ea typeface="Calibri" pitchFamily="34" charset="-122"/>
                <a:cs typeface="Calibri" pitchFamily="34" charset="-120"/>
              </a:rPr>
              <a:t>Carambus ersetzt die ClubCloud nicht — es entlastet sie.</a:t>
            </a:r>
            <a:endParaRPr lang="en-US" sz="1500" dirty="0"/>
          </a:p>
        </p:txBody>
      </p:sp>
      <p:sp>
        <p:nvSpPr>
          <p:cNvPr id="4" name="Text 2"/>
          <p:cNvSpPr/>
          <p:nvPr/>
        </p:nvSpPr>
        <p:spPr>
          <a:xfrm>
            <a:off x="502920" y="2057400"/>
            <a:ext cx="4023360" cy="2651760"/>
          </a:xfrm>
          <a:prstGeom prst="rect">
            <a:avLst/>
          </a:prstGeom>
          <a:noFill/>
          <a:ln/>
        </p:spPr>
        <p:txBody>
          <a:bodyPr wrap="square" lIns="0" tIns="0" rIns="0" bIns="0" rtlCol="0" anchor="ctr"/>
          <a:lstStyle/>
          <a:p>
            <a:pPr marL="342900" indent="-342900">
              <a:spcAft>
                <a:spcPts val="1200"/>
              </a:spcAft>
              <a:buSzPct val="100000"/>
              <a:buChar char="•"/>
            </a:pPr>
            <a:r>
              <a:rPr lang="en-US" sz="1300" dirty="0">
                <a:solidFill>
                  <a:srgbClr val="1C2B24"/>
                </a:solidFill>
                <a:latin typeface="Calibri" pitchFamily="34" charset="0"/>
                <a:ea typeface="Calibri" pitchFamily="34" charset="-122"/>
                <a:cs typeface="Calibri" pitchFamily="34" charset="-120"/>
              </a:rPr>
              <a:t>Automatischer Abgleich in beide Richtungen: Spieler, Turniere und Ligen kommen herein — Ergebnisse und Meldungen gehen zurück</a:t>
            </a:r>
            <a:endParaRPr lang="en-US" sz="1300" dirty="0"/>
          </a:p>
          <a:p>
            <a:pPr marL="342900" indent="-342900">
              <a:spcAft>
                <a:spcPts val="1200"/>
              </a:spcAft>
              <a:buSzPct val="100000"/>
              <a:buChar char="•"/>
            </a:pPr>
            <a:r>
              <a:rPr lang="en-US" sz="1300" dirty="0">
                <a:solidFill>
                  <a:srgbClr val="1C2B24"/>
                </a:solidFill>
                <a:latin typeface="Calibri" pitchFamily="34" charset="0"/>
                <a:ea typeface="Calibri" pitchFamily="34" charset="-122"/>
                <a:cs typeface="Calibri" pitchFamily="34" charset="-120"/>
              </a:rPr>
              <a:t>Meldewesen direkt aus Carambus, auf Wunsch im Dialog mit dem KI-Assistenten</a:t>
            </a:r>
            <a:endParaRPr lang="en-US" sz="1300" dirty="0"/>
          </a:p>
          <a:p>
            <a:pPr marL="342900" indent="-342900">
              <a:buSzPct val="100000"/>
              <a:buChar char="•"/>
            </a:pPr>
            <a:r>
              <a:rPr lang="en-US" sz="1300" dirty="0">
                <a:solidFill>
                  <a:srgbClr val="1C2B24"/>
                </a:solidFill>
                <a:latin typeface="Calibri" pitchFamily="34" charset="0"/>
                <a:ea typeface="Calibri" pitchFamily="34" charset="-122"/>
                <a:cs typeface="Calibri" pitchFamily="34" charset="-120"/>
              </a:rPr>
              <a:t>Keine Doppelerfassung, weniger Übertragungsfehler, aktuellere Daten im Verband</a:t>
            </a:r>
            <a:endParaRPr lang="en-US" sz="1300" dirty="0"/>
          </a:p>
        </p:txBody>
      </p:sp>
      <p:sp>
        <p:nvSpPr>
          <p:cNvPr id="5" name="Shape 3"/>
          <p:cNvSpPr/>
          <p:nvPr/>
        </p:nvSpPr>
        <p:spPr>
          <a:xfrm>
            <a:off x="5669280" y="1463040"/>
            <a:ext cx="2011680" cy="731520"/>
          </a:xfrm>
          <a:prstGeom prst="roundRect">
            <a:avLst>
              <a:gd name="adj" fmla="val 10000"/>
            </a:avLst>
          </a:prstGeom>
          <a:solidFill>
            <a:srgbClr val="E9EDEB"/>
          </a:solidFill>
          <a:ln w="12700">
            <a:solidFill>
              <a:srgbClr val="C4CCC7"/>
            </a:solidFill>
            <a:prstDash val="solid"/>
          </a:ln>
        </p:spPr>
      </p:sp>
      <p:sp>
        <p:nvSpPr>
          <p:cNvPr id="6" name="Text 4"/>
          <p:cNvSpPr/>
          <p:nvPr/>
        </p:nvSpPr>
        <p:spPr>
          <a:xfrm>
            <a:off x="5669280" y="1463040"/>
            <a:ext cx="2011680" cy="731520"/>
          </a:xfrm>
          <a:prstGeom prst="rect">
            <a:avLst/>
          </a:prstGeom>
          <a:noFill/>
          <a:ln/>
        </p:spPr>
        <p:txBody>
          <a:bodyPr wrap="square" lIns="0" tIns="0" rIns="0" bIns="0" rtlCol="0" anchor="ctr"/>
          <a:lstStyle/>
          <a:p>
            <a:pPr algn="ctr" indent="0" marL="0">
              <a:buNone/>
            </a:pPr>
            <a:r>
              <a:rPr lang="en-US" sz="1300" b="1" dirty="0">
                <a:solidFill>
                  <a:srgbClr val="5B6E63"/>
                </a:solidFill>
                <a:latin typeface="Calibri" pitchFamily="34" charset="0"/>
                <a:ea typeface="Calibri" pitchFamily="34" charset="-122"/>
                <a:cs typeface="Calibri" pitchFamily="34" charset="-120"/>
              </a:rPr>
              <a:t>ClubCloud (DBU)</a:t>
            </a:r>
            <a:endParaRPr lang="en-US" sz="1300" dirty="0"/>
          </a:p>
        </p:txBody>
      </p:sp>
      <p:sp>
        <p:nvSpPr>
          <p:cNvPr id="7" name="Shape 5"/>
          <p:cNvSpPr/>
          <p:nvPr/>
        </p:nvSpPr>
        <p:spPr>
          <a:xfrm>
            <a:off x="5669280" y="3474720"/>
            <a:ext cx="2011680" cy="731520"/>
          </a:xfrm>
          <a:prstGeom prst="roundRect">
            <a:avLst>
              <a:gd name="adj" fmla="val 10000"/>
            </a:avLst>
          </a:prstGeom>
          <a:solidFill>
            <a:srgbClr val="1B5E3B"/>
          </a:solidFill>
          <a:ln/>
          <a:effectLst>
            <a:outerShdw sx="100000" sy="100000" kx="0" ky="0" algn="bl" rotWithShape="0" blurRad="88900" dist="25400" dir="2700000">
              <a:srgbClr val="000000">
                <a:alpha val="14000"/>
              </a:srgbClr>
            </a:outerShdw>
          </a:effectLst>
        </p:spPr>
      </p:sp>
      <p:sp>
        <p:nvSpPr>
          <p:cNvPr id="8" name="Text 6"/>
          <p:cNvSpPr/>
          <p:nvPr/>
        </p:nvSpPr>
        <p:spPr>
          <a:xfrm>
            <a:off x="5669280" y="3474720"/>
            <a:ext cx="2011680"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Carambus</a:t>
            </a:r>
            <a:endParaRPr lang="en-US" sz="1400" dirty="0"/>
          </a:p>
        </p:txBody>
      </p:sp>
      <p:sp>
        <p:nvSpPr>
          <p:cNvPr id="9" name="Shape 7"/>
          <p:cNvSpPr/>
          <p:nvPr/>
        </p:nvSpPr>
        <p:spPr>
          <a:xfrm>
            <a:off x="6126480" y="2286000"/>
            <a:ext cx="0" cy="1097280"/>
          </a:xfrm>
          <a:prstGeom prst="line">
            <a:avLst/>
          </a:prstGeom>
          <a:noFill/>
          <a:ln w="31750">
            <a:solidFill>
              <a:srgbClr val="1B5E3B"/>
            </a:solidFill>
            <a:prstDash val="solid"/>
            <a:tailEnd type="triangle"/>
          </a:ln>
        </p:spPr>
      </p:sp>
      <p:sp>
        <p:nvSpPr>
          <p:cNvPr id="10" name="Shape 8"/>
          <p:cNvSpPr/>
          <p:nvPr/>
        </p:nvSpPr>
        <p:spPr>
          <a:xfrm>
            <a:off x="7223760" y="2286000"/>
            <a:ext cx="0" cy="1097280"/>
          </a:xfrm>
          <a:prstGeom prst="line">
            <a:avLst/>
          </a:prstGeom>
          <a:noFill/>
          <a:ln w="31750">
            <a:solidFill>
              <a:srgbClr val="D9A82B"/>
            </a:solidFill>
            <a:prstDash val="solid"/>
            <a:headEnd type="triangle"/>
          </a:ln>
        </p:spPr>
      </p:sp>
      <p:sp>
        <p:nvSpPr>
          <p:cNvPr id="11" name="Text 9"/>
          <p:cNvSpPr/>
          <p:nvPr/>
        </p:nvSpPr>
        <p:spPr>
          <a:xfrm>
            <a:off x="4572000" y="2514600"/>
            <a:ext cx="1417320" cy="640080"/>
          </a:xfrm>
          <a:prstGeom prst="rect">
            <a:avLst/>
          </a:prstGeom>
          <a:noFill/>
          <a:ln/>
        </p:spPr>
        <p:txBody>
          <a:bodyPr wrap="square" lIns="0" tIns="0" rIns="0" bIns="0" rtlCol="0" anchor="ctr"/>
          <a:lstStyle/>
          <a:p>
            <a:pPr algn="r" indent="0" marL="0">
              <a:buNone/>
            </a:pPr>
            <a:r>
              <a:rPr lang="en-US" sz="950" dirty="0">
                <a:solidFill>
                  <a:srgbClr val="5B6E63"/>
                </a:solidFill>
                <a:latin typeface="Calibri" pitchFamily="34" charset="0"/>
                <a:ea typeface="Calibri" pitchFamily="34" charset="-122"/>
                <a:cs typeface="Calibri" pitchFamily="34" charset="-120"/>
              </a:rPr>
              <a:t>Turniere</a:t>
            </a:r>
            <a:endParaRPr lang="en-US" sz="950" dirty="0"/>
          </a:p>
          <a:p>
            <a:pPr algn="r" indent="0" marL="0">
              <a:buNone/>
            </a:pPr>
            <a:r>
              <a:rPr lang="en-US" sz="950" dirty="0">
                <a:solidFill>
                  <a:srgbClr val="5B6E63"/>
                </a:solidFill>
                <a:latin typeface="Calibri" pitchFamily="34" charset="0"/>
                <a:ea typeface="Calibri" pitchFamily="34" charset="-122"/>
                <a:cs typeface="Calibri" pitchFamily="34" charset="-120"/>
              </a:rPr>
              <a:t>Spieler · Ligen</a:t>
            </a:r>
            <a:endParaRPr lang="en-US" sz="950" dirty="0"/>
          </a:p>
        </p:txBody>
      </p:sp>
      <p:sp>
        <p:nvSpPr>
          <p:cNvPr id="12" name="Text 10"/>
          <p:cNvSpPr/>
          <p:nvPr/>
        </p:nvSpPr>
        <p:spPr>
          <a:xfrm>
            <a:off x="7360920" y="2514600"/>
            <a:ext cx="1371600" cy="640080"/>
          </a:xfrm>
          <a:prstGeom prst="rect">
            <a:avLst/>
          </a:prstGeom>
          <a:noFill/>
          <a:ln/>
        </p:spPr>
        <p:txBody>
          <a:bodyPr wrap="square" lIns="0" tIns="0" rIns="0" bIns="0" rtlCol="0" anchor="ctr"/>
          <a:lstStyle/>
          <a:p>
            <a:pPr algn="l" indent="0" marL="0">
              <a:buNone/>
            </a:pPr>
            <a:r>
              <a:rPr lang="en-US" sz="950" dirty="0">
                <a:solidFill>
                  <a:srgbClr val="5B6E63"/>
                </a:solidFill>
                <a:latin typeface="Calibri" pitchFamily="34" charset="0"/>
                <a:ea typeface="Calibri" pitchFamily="34" charset="-122"/>
                <a:cs typeface="Calibri" pitchFamily="34" charset="-120"/>
              </a:rPr>
              <a:t>Ergebnisse</a:t>
            </a:r>
            <a:endParaRPr lang="en-US" sz="950" dirty="0"/>
          </a:p>
          <a:p>
            <a:pPr algn="l" indent="0" marL="0">
              <a:buNone/>
            </a:pPr>
            <a:r>
              <a:rPr lang="en-US" sz="950" dirty="0">
                <a:solidFill>
                  <a:srgbClr val="5B6E63"/>
                </a:solidFill>
                <a:latin typeface="Calibri" pitchFamily="34" charset="0"/>
                <a:ea typeface="Calibri" pitchFamily="34" charset="-122"/>
                <a:cs typeface="Calibri" pitchFamily="34" charset="-120"/>
              </a:rPr>
              <a:t>Meldungen</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229600" cy="502920"/>
          </a:xfrm>
          <a:prstGeom prst="rect">
            <a:avLst/>
          </a:prstGeom>
          <a:noFill/>
          <a:ln/>
        </p:spPr>
        <p:txBody>
          <a:bodyPr wrap="square" lIns="0" tIns="0" rIns="0" bIns="0" rtlCol="0" anchor="ctr"/>
          <a:lstStyle/>
          <a:p>
            <a:pPr indent="0" marL="0">
              <a:buNone/>
            </a:pPr>
            <a:r>
              <a:rPr lang="en-US" sz="2600" b="1" dirty="0">
                <a:solidFill>
                  <a:srgbClr val="0E3D28"/>
                </a:solidFill>
                <a:latin typeface="Cambria" pitchFamily="34" charset="0"/>
                <a:ea typeface="Cambria" pitchFamily="34" charset="-122"/>
                <a:cs typeface="Cambria" pitchFamily="34" charset="-120"/>
              </a:rPr>
              <a:t>Kein Konzept, sondern gelebter Vereinsalltag</a:t>
            </a:r>
            <a:endParaRPr lang="en-US" sz="2600" dirty="0"/>
          </a:p>
        </p:txBody>
      </p:sp>
      <p:sp>
        <p:nvSpPr>
          <p:cNvPr id="3" name="Text 1"/>
          <p:cNvSpPr/>
          <p:nvPr/>
        </p:nvSpPr>
        <p:spPr>
          <a:xfrm>
            <a:off x="502920" y="822960"/>
            <a:ext cx="8229600" cy="320040"/>
          </a:xfrm>
          <a:prstGeom prst="rect">
            <a:avLst/>
          </a:prstGeom>
          <a:noFill/>
          <a:ln/>
        </p:spPr>
        <p:txBody>
          <a:bodyPr wrap="square" lIns="0" tIns="0" rIns="0" bIns="0" rtlCol="0" anchor="ctr"/>
          <a:lstStyle/>
          <a:p>
            <a:pPr indent="0" marL="0">
              <a:buNone/>
            </a:pPr>
            <a:r>
              <a:rPr lang="en-US" sz="1300" dirty="0">
                <a:solidFill>
                  <a:srgbClr val="5B6E63"/>
                </a:solidFill>
                <a:latin typeface="Calibri" pitchFamily="34" charset="0"/>
                <a:ea typeface="Calibri" pitchFamily="34" charset="-122"/>
                <a:cs typeface="Calibri" pitchFamily="34" charset="-120"/>
              </a:rPr>
              <a:t>Produktiv im Billardclub Wedel 61 e.V. — seit 2022, alle Disziplinen</a:t>
            </a:r>
            <a:endParaRPr lang="en-US" sz="1300" dirty="0"/>
          </a:p>
        </p:txBody>
      </p:sp>
      <p:sp>
        <p:nvSpPr>
          <p:cNvPr id="4" name="Shape 2"/>
          <p:cNvSpPr/>
          <p:nvPr/>
        </p:nvSpPr>
        <p:spPr>
          <a:xfrm>
            <a:off x="502920" y="1325880"/>
            <a:ext cx="3977640" cy="1417320"/>
          </a:xfrm>
          <a:prstGeom prst="roundRect">
            <a:avLst>
              <a:gd name="adj" fmla="val 5161"/>
            </a:avLst>
          </a:prstGeom>
          <a:solidFill>
            <a:srgbClr val="F4F8F5"/>
          </a:solidFill>
          <a:ln/>
          <a:effectLst>
            <a:outerShdw sx="100000" sy="100000" kx="0" ky="0" algn="bl" rotWithShape="0" blurRad="88900" dist="25400" dir="2700000">
              <a:srgbClr val="000000">
                <a:alpha val="14000"/>
              </a:srgbClr>
            </a:outerShdw>
          </a:effectLst>
        </p:spPr>
      </p:sp>
      <p:sp>
        <p:nvSpPr>
          <p:cNvPr id="5" name="Shape 3"/>
          <p:cNvSpPr/>
          <p:nvPr/>
        </p:nvSpPr>
        <p:spPr>
          <a:xfrm>
            <a:off x="731520" y="1746504"/>
            <a:ext cx="566928" cy="566928"/>
          </a:xfrm>
          <a:prstGeom prst="ellipse">
            <a:avLst/>
          </a:prstGeom>
          <a:solidFill>
            <a:srgbClr val="1B5E3B"/>
          </a:solidFill>
          <a:ln/>
        </p:spPr>
      </p:sp>
      <p:pic>
        <p:nvPicPr>
          <p:cNvPr id="6" name="Image 0" descr="preencoded.png">    </p:cNvPr>
          <p:cNvPicPr>
            <a:picLocks noChangeAspect="1"/>
          </p:cNvPicPr>
          <p:nvPr/>
        </p:nvPicPr>
        <p:blipFill>
          <a:blip r:embed="rId1"/>
          <a:stretch>
            <a:fillRect/>
          </a:stretch>
        </p:blipFill>
        <p:spPr>
          <a:xfrm>
            <a:off x="877824" y="1892808"/>
            <a:ext cx="274320" cy="274320"/>
          </a:xfrm>
          <a:prstGeom prst="rect">
            <a:avLst/>
          </a:prstGeom>
        </p:spPr>
      </p:pic>
      <p:sp>
        <p:nvSpPr>
          <p:cNvPr id="7" name="Text 4"/>
          <p:cNvSpPr/>
          <p:nvPr/>
        </p:nvSpPr>
        <p:spPr>
          <a:xfrm>
            <a:off x="1490472" y="1508760"/>
            <a:ext cx="2834640" cy="566928"/>
          </a:xfrm>
          <a:prstGeom prst="rect">
            <a:avLst/>
          </a:prstGeom>
          <a:noFill/>
          <a:ln/>
        </p:spPr>
        <p:txBody>
          <a:bodyPr wrap="square" lIns="0" tIns="0" rIns="0" bIns="0" rtlCol="0" anchor="ctr"/>
          <a:lstStyle/>
          <a:p>
            <a:pPr indent="0" marL="0">
              <a:buNone/>
            </a:pPr>
            <a:r>
              <a:rPr lang="en-US" sz="1300" b="1" dirty="0">
                <a:solidFill>
                  <a:srgbClr val="0E3D28"/>
                </a:solidFill>
                <a:latin typeface="Calibri" pitchFamily="34" charset="0"/>
                <a:ea typeface="Calibri" pitchFamily="34" charset="-122"/>
                <a:cs typeface="Calibri" pitchFamily="34" charset="-120"/>
              </a:rPr>
              <a:t>Live-Scoreboards für alle Disziplinen</a:t>
            </a:r>
            <a:endParaRPr lang="en-US" sz="1300" dirty="0"/>
          </a:p>
        </p:txBody>
      </p:sp>
      <p:sp>
        <p:nvSpPr>
          <p:cNvPr id="8" name="Text 5"/>
          <p:cNvSpPr/>
          <p:nvPr/>
        </p:nvSpPr>
        <p:spPr>
          <a:xfrm>
            <a:off x="1490472" y="2075688"/>
            <a:ext cx="2834640" cy="566928"/>
          </a:xfrm>
          <a:prstGeom prst="rect">
            <a:avLst/>
          </a:prstGeom>
          <a:noFill/>
          <a:ln/>
        </p:spPr>
        <p:txBody>
          <a:bodyPr wrap="square" lIns="0" tIns="0" rIns="0" bIns="0" rtlCol="0" anchor="ctr"/>
          <a:lstStyle/>
          <a:p>
            <a:pPr indent="0" marL="0">
              <a:buNone/>
            </a:pPr>
            <a:r>
              <a:rPr lang="en-US" sz="1050" dirty="0">
                <a:solidFill>
                  <a:srgbClr val="5B6E63"/>
                </a:solidFill>
                <a:latin typeface="Calibri" pitchFamily="34" charset="0"/>
                <a:ea typeface="Calibri" pitchFamily="34" charset="-122"/>
                <a:cs typeface="Calibri" pitchFamily="34" charset="-120"/>
              </a:rPr>
              <a:t>Karambol, Pool und Snooker — Touch-Bedienung direkt am Tisch</a:t>
            </a:r>
            <a:endParaRPr lang="en-US" sz="1050" dirty="0"/>
          </a:p>
        </p:txBody>
      </p:sp>
      <p:sp>
        <p:nvSpPr>
          <p:cNvPr id="9" name="Shape 6"/>
          <p:cNvSpPr/>
          <p:nvPr/>
        </p:nvSpPr>
        <p:spPr>
          <a:xfrm>
            <a:off x="4663440" y="1325880"/>
            <a:ext cx="3977640" cy="1417320"/>
          </a:xfrm>
          <a:prstGeom prst="roundRect">
            <a:avLst>
              <a:gd name="adj" fmla="val 5161"/>
            </a:avLst>
          </a:prstGeom>
          <a:solidFill>
            <a:srgbClr val="F4F8F5"/>
          </a:solidFill>
          <a:ln/>
          <a:effectLst>
            <a:outerShdw sx="100000" sy="100000" kx="0" ky="0" algn="bl" rotWithShape="0" blurRad="88900" dist="25400" dir="2700000">
              <a:srgbClr val="000000">
                <a:alpha val="14000"/>
              </a:srgbClr>
            </a:outerShdw>
          </a:effectLst>
        </p:spPr>
      </p:sp>
      <p:sp>
        <p:nvSpPr>
          <p:cNvPr id="10" name="Shape 7"/>
          <p:cNvSpPr/>
          <p:nvPr/>
        </p:nvSpPr>
        <p:spPr>
          <a:xfrm>
            <a:off x="4892040" y="1746504"/>
            <a:ext cx="566928" cy="566928"/>
          </a:xfrm>
          <a:prstGeom prst="ellipse">
            <a:avLst/>
          </a:prstGeom>
          <a:solidFill>
            <a:srgbClr val="1B5E3B"/>
          </a:solidFill>
          <a:ln/>
        </p:spPr>
      </p:sp>
      <p:pic>
        <p:nvPicPr>
          <p:cNvPr id="11" name="Image 1" descr="preencoded.png">    </p:cNvPr>
          <p:cNvPicPr>
            <a:picLocks noChangeAspect="1"/>
          </p:cNvPicPr>
          <p:nvPr/>
        </p:nvPicPr>
        <p:blipFill>
          <a:blip r:embed="rId2"/>
          <a:stretch>
            <a:fillRect/>
          </a:stretch>
        </p:blipFill>
        <p:spPr>
          <a:xfrm>
            <a:off x="5038344" y="1892808"/>
            <a:ext cx="274320" cy="274320"/>
          </a:xfrm>
          <a:prstGeom prst="rect">
            <a:avLst/>
          </a:prstGeom>
        </p:spPr>
      </p:pic>
      <p:sp>
        <p:nvSpPr>
          <p:cNvPr id="12" name="Text 8"/>
          <p:cNvSpPr/>
          <p:nvPr/>
        </p:nvSpPr>
        <p:spPr>
          <a:xfrm>
            <a:off x="5650992" y="1508760"/>
            <a:ext cx="2834640" cy="566928"/>
          </a:xfrm>
          <a:prstGeom prst="rect">
            <a:avLst/>
          </a:prstGeom>
          <a:noFill/>
          <a:ln/>
        </p:spPr>
        <p:txBody>
          <a:bodyPr wrap="square" lIns="0" tIns="0" rIns="0" bIns="0" rtlCol="0" anchor="ctr"/>
          <a:lstStyle/>
          <a:p>
            <a:pPr indent="0" marL="0">
              <a:buNone/>
            </a:pPr>
            <a:r>
              <a:rPr lang="en-US" sz="1300" b="1" dirty="0">
                <a:solidFill>
                  <a:srgbClr val="0E3D28"/>
                </a:solidFill>
                <a:latin typeface="Calibri" pitchFamily="34" charset="0"/>
                <a:ea typeface="Calibri" pitchFamily="34" charset="-122"/>
                <a:cs typeface="Calibri" pitchFamily="34" charset="-120"/>
              </a:rPr>
              <a:t>Turniere &amp; Liga-Spieltage digital</a:t>
            </a:r>
            <a:endParaRPr lang="en-US" sz="1300" dirty="0"/>
          </a:p>
        </p:txBody>
      </p:sp>
      <p:sp>
        <p:nvSpPr>
          <p:cNvPr id="13" name="Text 9"/>
          <p:cNvSpPr/>
          <p:nvPr/>
        </p:nvSpPr>
        <p:spPr>
          <a:xfrm>
            <a:off x="5650992" y="2075688"/>
            <a:ext cx="2834640" cy="566928"/>
          </a:xfrm>
          <a:prstGeom prst="rect">
            <a:avLst/>
          </a:prstGeom>
          <a:noFill/>
          <a:ln/>
        </p:spPr>
        <p:txBody>
          <a:bodyPr wrap="square" lIns="0" tIns="0" rIns="0" bIns="0" rtlCol="0" anchor="ctr"/>
          <a:lstStyle/>
          <a:p>
            <a:pPr indent="0" marL="0">
              <a:buNone/>
            </a:pPr>
            <a:r>
              <a:rPr lang="en-US" sz="1050" dirty="0">
                <a:solidFill>
                  <a:srgbClr val="5B6E63"/>
                </a:solidFill>
                <a:latin typeface="Calibri" pitchFamily="34" charset="0"/>
                <a:ea typeface="Calibri" pitchFamily="34" charset="-122"/>
                <a:cs typeface="Calibri" pitchFamily="34" charset="-120"/>
              </a:rPr>
              <a:t>Spielpläne, Live-Tabellen und PDF-Protokolle auf Knopfdruck</a:t>
            </a:r>
            <a:endParaRPr lang="en-US" sz="1050" dirty="0"/>
          </a:p>
        </p:txBody>
      </p:sp>
      <p:sp>
        <p:nvSpPr>
          <p:cNvPr id="14" name="Shape 10"/>
          <p:cNvSpPr/>
          <p:nvPr/>
        </p:nvSpPr>
        <p:spPr>
          <a:xfrm>
            <a:off x="502920" y="2926080"/>
            <a:ext cx="3977640" cy="1417320"/>
          </a:xfrm>
          <a:prstGeom prst="roundRect">
            <a:avLst>
              <a:gd name="adj" fmla="val 5161"/>
            </a:avLst>
          </a:prstGeom>
          <a:solidFill>
            <a:srgbClr val="F4F8F5"/>
          </a:solidFill>
          <a:ln/>
          <a:effectLst>
            <a:outerShdw sx="100000" sy="100000" kx="0" ky="0" algn="bl" rotWithShape="0" blurRad="88900" dist="25400" dir="2700000">
              <a:srgbClr val="000000">
                <a:alpha val="14000"/>
              </a:srgbClr>
            </a:outerShdw>
          </a:effectLst>
        </p:spPr>
      </p:sp>
      <p:sp>
        <p:nvSpPr>
          <p:cNvPr id="15" name="Shape 11"/>
          <p:cNvSpPr/>
          <p:nvPr/>
        </p:nvSpPr>
        <p:spPr>
          <a:xfrm>
            <a:off x="731520" y="3346704"/>
            <a:ext cx="566928" cy="566928"/>
          </a:xfrm>
          <a:prstGeom prst="ellipse">
            <a:avLst/>
          </a:prstGeom>
          <a:solidFill>
            <a:srgbClr val="1B5E3B"/>
          </a:solidFill>
          <a:ln/>
        </p:spPr>
      </p:sp>
      <p:pic>
        <p:nvPicPr>
          <p:cNvPr id="16" name="Image 2" descr="preencoded.png">    </p:cNvPr>
          <p:cNvPicPr>
            <a:picLocks noChangeAspect="1"/>
          </p:cNvPicPr>
          <p:nvPr/>
        </p:nvPicPr>
        <p:blipFill>
          <a:blip r:embed="rId3"/>
          <a:stretch>
            <a:fillRect/>
          </a:stretch>
        </p:blipFill>
        <p:spPr>
          <a:xfrm>
            <a:off x="877824" y="3493008"/>
            <a:ext cx="274320" cy="274320"/>
          </a:xfrm>
          <a:prstGeom prst="rect">
            <a:avLst/>
          </a:prstGeom>
        </p:spPr>
      </p:pic>
      <p:sp>
        <p:nvSpPr>
          <p:cNvPr id="17" name="Text 12"/>
          <p:cNvSpPr/>
          <p:nvPr/>
        </p:nvSpPr>
        <p:spPr>
          <a:xfrm>
            <a:off x="1490472" y="3108960"/>
            <a:ext cx="2834640" cy="566928"/>
          </a:xfrm>
          <a:prstGeom prst="rect">
            <a:avLst/>
          </a:prstGeom>
          <a:noFill/>
          <a:ln/>
        </p:spPr>
        <p:txBody>
          <a:bodyPr wrap="square" lIns="0" tIns="0" rIns="0" bIns="0" rtlCol="0" anchor="ctr"/>
          <a:lstStyle/>
          <a:p>
            <a:pPr indent="0" marL="0">
              <a:buNone/>
            </a:pPr>
            <a:r>
              <a:rPr lang="en-US" sz="1300" b="1" dirty="0">
                <a:solidFill>
                  <a:srgbClr val="0E3D28"/>
                </a:solidFill>
                <a:latin typeface="Calibri" pitchFamily="34" charset="0"/>
                <a:ea typeface="Calibri" pitchFamily="34" charset="-122"/>
                <a:cs typeface="Calibri" pitchFamily="34" charset="-120"/>
              </a:rPr>
              <a:t>Tischreservierung mit Heizung</a:t>
            </a:r>
            <a:endParaRPr lang="en-US" sz="1300" dirty="0"/>
          </a:p>
        </p:txBody>
      </p:sp>
      <p:sp>
        <p:nvSpPr>
          <p:cNvPr id="18" name="Text 13"/>
          <p:cNvSpPr/>
          <p:nvPr/>
        </p:nvSpPr>
        <p:spPr>
          <a:xfrm>
            <a:off x="1490472" y="3675888"/>
            <a:ext cx="2834640" cy="566928"/>
          </a:xfrm>
          <a:prstGeom prst="rect">
            <a:avLst/>
          </a:prstGeom>
          <a:noFill/>
          <a:ln/>
        </p:spPr>
        <p:txBody>
          <a:bodyPr wrap="square" lIns="0" tIns="0" rIns="0" bIns="0" rtlCol="0" anchor="ctr"/>
          <a:lstStyle/>
          <a:p>
            <a:pPr indent="0" marL="0">
              <a:buNone/>
            </a:pPr>
            <a:r>
              <a:rPr lang="en-US" sz="1050" dirty="0">
                <a:solidFill>
                  <a:srgbClr val="5B6E63"/>
                </a:solidFill>
                <a:latin typeface="Calibri" pitchFamily="34" charset="0"/>
                <a:ea typeface="Calibri" pitchFamily="34" charset="-122"/>
                <a:cs typeface="Calibri" pitchFamily="34" charset="-120"/>
              </a:rPr>
              <a:t>Online buchen — der Tisch ist vorgeheizt, wenn das Spiel beginnt</a:t>
            </a:r>
            <a:endParaRPr lang="en-US" sz="1050" dirty="0"/>
          </a:p>
        </p:txBody>
      </p:sp>
      <p:sp>
        <p:nvSpPr>
          <p:cNvPr id="19" name="Shape 14"/>
          <p:cNvSpPr/>
          <p:nvPr/>
        </p:nvSpPr>
        <p:spPr>
          <a:xfrm>
            <a:off x="4663440" y="2926080"/>
            <a:ext cx="3977640" cy="1417320"/>
          </a:xfrm>
          <a:prstGeom prst="roundRect">
            <a:avLst>
              <a:gd name="adj" fmla="val 5161"/>
            </a:avLst>
          </a:prstGeom>
          <a:solidFill>
            <a:srgbClr val="F4F8F5"/>
          </a:solidFill>
          <a:ln/>
          <a:effectLst>
            <a:outerShdw sx="100000" sy="100000" kx="0" ky="0" algn="bl" rotWithShape="0" blurRad="88900" dist="25400" dir="2700000">
              <a:srgbClr val="000000">
                <a:alpha val="14000"/>
              </a:srgbClr>
            </a:outerShdw>
          </a:effectLst>
        </p:spPr>
      </p:sp>
      <p:sp>
        <p:nvSpPr>
          <p:cNvPr id="20" name="Shape 15"/>
          <p:cNvSpPr/>
          <p:nvPr/>
        </p:nvSpPr>
        <p:spPr>
          <a:xfrm>
            <a:off x="4892040" y="3346704"/>
            <a:ext cx="566928" cy="566928"/>
          </a:xfrm>
          <a:prstGeom prst="ellipse">
            <a:avLst/>
          </a:prstGeom>
          <a:solidFill>
            <a:srgbClr val="1B5E3B"/>
          </a:solidFill>
          <a:ln/>
        </p:spPr>
      </p:sp>
      <p:pic>
        <p:nvPicPr>
          <p:cNvPr id="21" name="Image 3" descr="preencoded.png">    </p:cNvPr>
          <p:cNvPicPr>
            <a:picLocks noChangeAspect="1"/>
          </p:cNvPicPr>
          <p:nvPr/>
        </p:nvPicPr>
        <p:blipFill>
          <a:blip r:embed="rId4"/>
          <a:stretch>
            <a:fillRect/>
          </a:stretch>
        </p:blipFill>
        <p:spPr>
          <a:xfrm>
            <a:off x="5038344" y="3493008"/>
            <a:ext cx="274320" cy="274320"/>
          </a:xfrm>
          <a:prstGeom prst="rect">
            <a:avLst/>
          </a:prstGeom>
        </p:spPr>
      </p:pic>
      <p:sp>
        <p:nvSpPr>
          <p:cNvPr id="22" name="Text 16"/>
          <p:cNvSpPr/>
          <p:nvPr/>
        </p:nvSpPr>
        <p:spPr>
          <a:xfrm>
            <a:off x="5650992" y="3108960"/>
            <a:ext cx="2834640" cy="566928"/>
          </a:xfrm>
          <a:prstGeom prst="rect">
            <a:avLst/>
          </a:prstGeom>
          <a:noFill/>
          <a:ln/>
        </p:spPr>
        <p:txBody>
          <a:bodyPr wrap="square" lIns="0" tIns="0" rIns="0" bIns="0" rtlCol="0" anchor="ctr"/>
          <a:lstStyle/>
          <a:p>
            <a:pPr indent="0" marL="0">
              <a:buNone/>
            </a:pPr>
            <a:r>
              <a:rPr lang="en-US" sz="1300" b="1" dirty="0">
                <a:solidFill>
                  <a:srgbClr val="0E3D28"/>
                </a:solidFill>
                <a:latin typeface="Calibri" pitchFamily="34" charset="0"/>
                <a:ea typeface="Calibri" pitchFamily="34" charset="-122"/>
                <a:cs typeface="Calibri" pitchFamily="34" charset="-120"/>
              </a:rPr>
              <a:t>KI-Assistent für Sportwarte</a:t>
            </a:r>
            <a:endParaRPr lang="en-US" sz="1300" dirty="0"/>
          </a:p>
        </p:txBody>
      </p:sp>
      <p:sp>
        <p:nvSpPr>
          <p:cNvPr id="23" name="Text 17"/>
          <p:cNvSpPr/>
          <p:nvPr/>
        </p:nvSpPr>
        <p:spPr>
          <a:xfrm>
            <a:off x="5650992" y="3675888"/>
            <a:ext cx="2834640" cy="566928"/>
          </a:xfrm>
          <a:prstGeom prst="rect">
            <a:avLst/>
          </a:prstGeom>
          <a:noFill/>
          <a:ln/>
        </p:spPr>
        <p:txBody>
          <a:bodyPr wrap="square" lIns="0" tIns="0" rIns="0" bIns="0" rtlCol="0" anchor="ctr"/>
          <a:lstStyle/>
          <a:p>
            <a:pPr indent="0" marL="0">
              <a:buNone/>
            </a:pPr>
            <a:r>
              <a:rPr lang="en-US" sz="1050" dirty="0">
                <a:solidFill>
                  <a:srgbClr val="5B6E63"/>
                </a:solidFill>
                <a:latin typeface="Calibri" pitchFamily="34" charset="0"/>
                <a:ea typeface="Calibri" pitchFamily="34" charset="-122"/>
                <a:cs typeface="Calibri" pitchFamily="34" charset="-120"/>
              </a:rPr>
              <a:t>Meldelisten und Turnierfragen im Dialog statt Klickstrecken</a:t>
            </a:r>
            <a:endParaRPr lang="en-US" sz="1050" dirty="0"/>
          </a:p>
        </p:txBody>
      </p:sp>
      <p:sp>
        <p:nvSpPr>
          <p:cNvPr id="24" name="Text 18"/>
          <p:cNvSpPr/>
          <p:nvPr/>
        </p:nvSpPr>
        <p:spPr>
          <a:xfrm>
            <a:off x="502920" y="4681728"/>
            <a:ext cx="8138160" cy="274320"/>
          </a:xfrm>
          <a:prstGeom prst="rect">
            <a:avLst/>
          </a:prstGeom>
          <a:noFill/>
          <a:ln/>
        </p:spPr>
        <p:txBody>
          <a:bodyPr wrap="square" lIns="0" tIns="0" rIns="0" bIns="0" rtlCol="0" anchor="ctr"/>
          <a:lstStyle/>
          <a:p>
            <a:pPr algn="ctr" indent="0" marL="0">
              <a:buNone/>
            </a:pPr>
            <a:r>
              <a:rPr lang="en-US" sz="1050" dirty="0">
                <a:solidFill>
                  <a:srgbClr val="5B6E63"/>
                </a:solidFill>
                <a:latin typeface="Calibri" pitchFamily="34" charset="0"/>
                <a:ea typeface="Calibri" pitchFamily="34" charset="-122"/>
                <a:cs typeface="Calibri" pitchFamily="34" charset="-120"/>
              </a:rPr>
              <a:t>Open Source · MIT-Lizenz · github.com/GernotUllrich/carambus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229600" cy="502920"/>
          </a:xfrm>
          <a:prstGeom prst="rect">
            <a:avLst/>
          </a:prstGeom>
          <a:noFill/>
          <a:ln/>
        </p:spPr>
        <p:txBody>
          <a:bodyPr wrap="square" lIns="0" tIns="0" rIns="0" bIns="0" rtlCol="0" anchor="ctr"/>
          <a:lstStyle/>
          <a:p>
            <a:pPr indent="0" marL="0">
              <a:buNone/>
            </a:pPr>
            <a:r>
              <a:rPr lang="en-US" sz="2500" b="1" dirty="0">
                <a:solidFill>
                  <a:srgbClr val="0E3D28"/>
                </a:solidFill>
                <a:latin typeface="Cambria" pitchFamily="34" charset="0"/>
                <a:ea typeface="Cambria" pitchFamily="34" charset="-122"/>
                <a:cs typeface="Cambria" pitchFamily="34" charset="-120"/>
              </a:rPr>
              <a:t>Offene Architektur: Erweiterungen in Tagen statt Jahren</a:t>
            </a:r>
            <a:endParaRPr lang="en-US" sz="2500" dirty="0"/>
          </a:p>
        </p:txBody>
      </p:sp>
      <p:sp>
        <p:nvSpPr>
          <p:cNvPr id="3" name="Shape 1"/>
          <p:cNvSpPr/>
          <p:nvPr/>
        </p:nvSpPr>
        <p:spPr>
          <a:xfrm>
            <a:off x="1623060" y="1851660"/>
            <a:ext cx="2948940" cy="891540"/>
          </a:xfrm>
          <a:prstGeom prst="line">
            <a:avLst/>
          </a:prstGeom>
          <a:noFill/>
          <a:ln w="22225">
            <a:solidFill>
              <a:srgbClr val="1B5E3B"/>
            </a:solidFill>
            <a:prstDash val="solid"/>
          </a:ln>
        </p:spPr>
      </p:sp>
      <p:sp>
        <p:nvSpPr>
          <p:cNvPr id="4" name="Shape 2"/>
          <p:cNvSpPr/>
          <p:nvPr/>
        </p:nvSpPr>
        <p:spPr>
          <a:xfrm flipV="1">
            <a:off x="4572000" y="1851660"/>
            <a:ext cx="2948940" cy="891540"/>
          </a:xfrm>
          <a:prstGeom prst="line">
            <a:avLst/>
          </a:prstGeom>
          <a:noFill/>
          <a:ln w="22225">
            <a:solidFill>
              <a:srgbClr val="1B5E3B"/>
            </a:solidFill>
            <a:prstDash val="solid"/>
          </a:ln>
        </p:spPr>
      </p:sp>
      <p:sp>
        <p:nvSpPr>
          <p:cNvPr id="5" name="Shape 3"/>
          <p:cNvSpPr/>
          <p:nvPr/>
        </p:nvSpPr>
        <p:spPr>
          <a:xfrm flipV="1">
            <a:off x="1623060" y="2743200"/>
            <a:ext cx="2948940" cy="891540"/>
          </a:xfrm>
          <a:prstGeom prst="line">
            <a:avLst/>
          </a:prstGeom>
          <a:noFill/>
          <a:ln w="22225">
            <a:solidFill>
              <a:srgbClr val="1B5E3B"/>
            </a:solidFill>
            <a:prstDash val="solid"/>
          </a:ln>
        </p:spPr>
      </p:sp>
      <p:sp>
        <p:nvSpPr>
          <p:cNvPr id="6" name="Shape 4"/>
          <p:cNvSpPr/>
          <p:nvPr/>
        </p:nvSpPr>
        <p:spPr>
          <a:xfrm>
            <a:off x="4572000" y="2743200"/>
            <a:ext cx="2948940" cy="891540"/>
          </a:xfrm>
          <a:prstGeom prst="line">
            <a:avLst/>
          </a:prstGeom>
          <a:noFill/>
          <a:ln w="22225">
            <a:solidFill>
              <a:srgbClr val="1B5E3B"/>
            </a:solidFill>
            <a:prstDash val="solid"/>
          </a:ln>
        </p:spPr>
      </p:sp>
      <p:sp>
        <p:nvSpPr>
          <p:cNvPr id="7" name="Shape 5"/>
          <p:cNvSpPr/>
          <p:nvPr/>
        </p:nvSpPr>
        <p:spPr>
          <a:xfrm>
            <a:off x="4572000" y="1463040"/>
            <a:ext cx="0" cy="822960"/>
          </a:xfrm>
          <a:prstGeom prst="line">
            <a:avLst/>
          </a:prstGeom>
          <a:noFill/>
          <a:ln w="22225">
            <a:solidFill>
              <a:srgbClr val="D9A82B"/>
            </a:solidFill>
            <a:prstDash val="dash"/>
          </a:ln>
        </p:spPr>
      </p:sp>
      <p:sp>
        <p:nvSpPr>
          <p:cNvPr id="8" name="Shape 6"/>
          <p:cNvSpPr/>
          <p:nvPr/>
        </p:nvSpPr>
        <p:spPr>
          <a:xfrm>
            <a:off x="3520440" y="960120"/>
            <a:ext cx="2103120" cy="502920"/>
          </a:xfrm>
          <a:prstGeom prst="roundRect">
            <a:avLst>
              <a:gd name="adj" fmla="val 18182"/>
            </a:avLst>
          </a:prstGeom>
          <a:solidFill>
            <a:srgbClr val="FFFFFF"/>
          </a:solidFill>
          <a:ln w="19050">
            <a:solidFill>
              <a:srgbClr val="D9A82B"/>
            </a:solidFill>
            <a:prstDash val="dash"/>
          </a:ln>
        </p:spPr>
      </p:sp>
      <p:sp>
        <p:nvSpPr>
          <p:cNvPr id="9" name="Text 7"/>
          <p:cNvSpPr/>
          <p:nvPr/>
        </p:nvSpPr>
        <p:spPr>
          <a:xfrm>
            <a:off x="3520440" y="960120"/>
            <a:ext cx="2103120" cy="502920"/>
          </a:xfrm>
          <a:prstGeom prst="rect">
            <a:avLst/>
          </a:prstGeom>
          <a:noFill/>
          <a:ln/>
        </p:spPr>
        <p:txBody>
          <a:bodyPr wrap="square" lIns="0" tIns="0" rIns="0" bIns="0" rtlCol="0" anchor="ctr"/>
          <a:lstStyle/>
          <a:p>
            <a:pPr algn="ctr" indent="0" marL="0">
              <a:buNone/>
            </a:pPr>
            <a:r>
              <a:rPr lang="en-US" sz="1200" b="1" i="1" dirty="0">
                <a:solidFill>
                  <a:srgbClr val="7A5A10"/>
                </a:solidFill>
                <a:latin typeface="Calibri" pitchFamily="34" charset="0"/>
                <a:ea typeface="Calibri" pitchFamily="34" charset="-122"/>
                <a:cs typeface="Calibri" pitchFamily="34" charset="-120"/>
              </a:rPr>
              <a:t>Ihre Idee …</a:t>
            </a:r>
            <a:endParaRPr lang="en-US" sz="1200" dirty="0"/>
          </a:p>
        </p:txBody>
      </p:sp>
      <p:sp>
        <p:nvSpPr>
          <p:cNvPr id="10" name="Shape 8"/>
          <p:cNvSpPr/>
          <p:nvPr/>
        </p:nvSpPr>
        <p:spPr>
          <a:xfrm>
            <a:off x="3291840" y="2286000"/>
            <a:ext cx="2560320" cy="914400"/>
          </a:xfrm>
          <a:prstGeom prst="roundRect">
            <a:avLst>
              <a:gd name="adj" fmla="val 10000"/>
            </a:avLst>
          </a:prstGeom>
          <a:solidFill>
            <a:srgbClr val="1B5E3B"/>
          </a:solidFill>
          <a:ln/>
          <a:effectLst>
            <a:outerShdw sx="100000" sy="100000" kx="0" ky="0" algn="bl" rotWithShape="0" blurRad="88900" dist="25400" dir="2700000">
              <a:srgbClr val="000000">
                <a:alpha val="14000"/>
              </a:srgbClr>
            </a:outerShdw>
          </a:effectLst>
        </p:spPr>
      </p:sp>
      <p:sp>
        <p:nvSpPr>
          <p:cNvPr id="11" name="Text 9"/>
          <p:cNvSpPr/>
          <p:nvPr/>
        </p:nvSpPr>
        <p:spPr>
          <a:xfrm>
            <a:off x="3291840" y="2286000"/>
            <a:ext cx="2560320" cy="9144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Carambus-Kern</a:t>
            </a:r>
            <a:endParaRPr lang="en-US" sz="1400" dirty="0"/>
          </a:p>
          <a:p>
            <a:pPr algn="ctr" indent="0" marL="0">
              <a:buNone/>
            </a:pPr>
            <a:r>
              <a:rPr lang="en-US" sz="900" b="1" dirty="0">
                <a:solidFill>
                  <a:srgbClr val="CFE5D8"/>
                </a:solidFill>
                <a:latin typeface="Calibri" pitchFamily="34" charset="0"/>
                <a:ea typeface="Calibri" pitchFamily="34" charset="-122"/>
                <a:cs typeface="Calibri" pitchFamily="34" charset="-120"/>
              </a:rPr>
              <a:t>offen · dokumentiert · Open Source</a:t>
            </a:r>
            <a:endParaRPr lang="en-US" sz="1400" dirty="0"/>
          </a:p>
        </p:txBody>
      </p:sp>
      <p:sp>
        <p:nvSpPr>
          <p:cNvPr id="12" name="Shape 10"/>
          <p:cNvSpPr/>
          <p:nvPr/>
        </p:nvSpPr>
        <p:spPr>
          <a:xfrm>
            <a:off x="548640" y="1417320"/>
            <a:ext cx="2148840" cy="868680"/>
          </a:xfrm>
          <a:prstGeom prst="roundRect">
            <a:avLst>
              <a:gd name="adj" fmla="val 8421"/>
            </a:avLst>
          </a:prstGeom>
          <a:solidFill>
            <a:srgbClr val="F4F8F5"/>
          </a:solidFill>
          <a:ln/>
          <a:effectLst>
            <a:outerShdw sx="100000" sy="100000" kx="0" ky="0" algn="bl" rotWithShape="0" blurRad="88900" dist="25400" dir="2700000">
              <a:srgbClr val="000000">
                <a:alpha val="14000"/>
              </a:srgbClr>
            </a:outerShdw>
          </a:effectLst>
        </p:spPr>
      </p:sp>
      <p:sp>
        <p:nvSpPr>
          <p:cNvPr id="13" name="Shape 11"/>
          <p:cNvSpPr/>
          <p:nvPr/>
        </p:nvSpPr>
        <p:spPr>
          <a:xfrm>
            <a:off x="704088" y="1645920"/>
            <a:ext cx="411480" cy="411480"/>
          </a:xfrm>
          <a:prstGeom prst="ellipse">
            <a:avLst/>
          </a:prstGeom>
          <a:solidFill>
            <a:srgbClr val="1B5E3B"/>
          </a:solidFill>
          <a:ln/>
        </p:spPr>
      </p:sp>
      <p:pic>
        <p:nvPicPr>
          <p:cNvPr id="14" name="Image 0" descr="preencoded.png">    </p:cNvPr>
          <p:cNvPicPr>
            <a:picLocks noChangeAspect="1"/>
          </p:cNvPicPr>
          <p:nvPr/>
        </p:nvPicPr>
        <p:blipFill>
          <a:blip r:embed="rId1"/>
          <a:stretch>
            <a:fillRect/>
          </a:stretch>
        </p:blipFill>
        <p:spPr>
          <a:xfrm>
            <a:off x="804672" y="1746504"/>
            <a:ext cx="210312" cy="210312"/>
          </a:xfrm>
          <a:prstGeom prst="rect">
            <a:avLst/>
          </a:prstGeom>
        </p:spPr>
      </p:pic>
      <p:sp>
        <p:nvSpPr>
          <p:cNvPr id="15" name="Text 12"/>
          <p:cNvSpPr/>
          <p:nvPr/>
        </p:nvSpPr>
        <p:spPr>
          <a:xfrm>
            <a:off x="1234440" y="1417320"/>
            <a:ext cx="1371600" cy="868680"/>
          </a:xfrm>
          <a:prstGeom prst="rect">
            <a:avLst/>
          </a:prstGeom>
          <a:noFill/>
          <a:ln/>
        </p:spPr>
        <p:txBody>
          <a:bodyPr wrap="square" lIns="0" tIns="0" rIns="0" bIns="0" rtlCol="0" anchor="ctr"/>
          <a:lstStyle/>
          <a:p>
            <a:pPr indent="0" marL="0">
              <a:buNone/>
            </a:pPr>
            <a:r>
              <a:rPr lang="en-US" sz="1050" b="1" dirty="0">
                <a:solidFill>
                  <a:srgbClr val="0E3D28"/>
                </a:solidFill>
                <a:latin typeface="Calibri" pitchFamily="34" charset="0"/>
                <a:ea typeface="Calibri" pitchFamily="34" charset="-122"/>
                <a:cs typeface="Calibri" pitchFamily="34" charset="-120"/>
              </a:rPr>
              <a:t>Trainings-Support</a:t>
            </a:r>
            <a:endParaRPr lang="en-US" sz="1050" dirty="0"/>
          </a:p>
        </p:txBody>
      </p:sp>
      <p:sp>
        <p:nvSpPr>
          <p:cNvPr id="16" name="Shape 13"/>
          <p:cNvSpPr/>
          <p:nvPr/>
        </p:nvSpPr>
        <p:spPr>
          <a:xfrm>
            <a:off x="6446520" y="1417320"/>
            <a:ext cx="2148840" cy="868680"/>
          </a:xfrm>
          <a:prstGeom prst="roundRect">
            <a:avLst>
              <a:gd name="adj" fmla="val 8421"/>
            </a:avLst>
          </a:prstGeom>
          <a:solidFill>
            <a:srgbClr val="F4F8F5"/>
          </a:solidFill>
          <a:ln/>
          <a:effectLst>
            <a:outerShdw sx="100000" sy="100000" kx="0" ky="0" algn="bl" rotWithShape="0" blurRad="88900" dist="25400" dir="2700000">
              <a:srgbClr val="000000">
                <a:alpha val="14000"/>
              </a:srgbClr>
            </a:outerShdw>
          </a:effectLst>
        </p:spPr>
      </p:sp>
      <p:sp>
        <p:nvSpPr>
          <p:cNvPr id="17" name="Shape 14"/>
          <p:cNvSpPr/>
          <p:nvPr/>
        </p:nvSpPr>
        <p:spPr>
          <a:xfrm>
            <a:off x="6601968" y="1645920"/>
            <a:ext cx="411480" cy="411480"/>
          </a:xfrm>
          <a:prstGeom prst="ellipse">
            <a:avLst/>
          </a:prstGeom>
          <a:solidFill>
            <a:srgbClr val="1B5E3B"/>
          </a:solidFill>
          <a:ln/>
        </p:spPr>
      </p:sp>
      <p:pic>
        <p:nvPicPr>
          <p:cNvPr id="18" name="Image 1" descr="preencoded.png">    </p:cNvPr>
          <p:cNvPicPr>
            <a:picLocks noChangeAspect="1"/>
          </p:cNvPicPr>
          <p:nvPr/>
        </p:nvPicPr>
        <p:blipFill>
          <a:blip r:embed="rId2"/>
          <a:stretch>
            <a:fillRect/>
          </a:stretch>
        </p:blipFill>
        <p:spPr>
          <a:xfrm>
            <a:off x="6702552" y="1746504"/>
            <a:ext cx="210312" cy="210312"/>
          </a:xfrm>
          <a:prstGeom prst="rect">
            <a:avLst/>
          </a:prstGeom>
        </p:spPr>
      </p:pic>
      <p:sp>
        <p:nvSpPr>
          <p:cNvPr id="19" name="Text 15"/>
          <p:cNvSpPr/>
          <p:nvPr/>
        </p:nvSpPr>
        <p:spPr>
          <a:xfrm>
            <a:off x="7132320" y="1417320"/>
            <a:ext cx="1371600" cy="868680"/>
          </a:xfrm>
          <a:prstGeom prst="rect">
            <a:avLst/>
          </a:prstGeom>
          <a:noFill/>
          <a:ln/>
        </p:spPr>
        <p:txBody>
          <a:bodyPr wrap="square" lIns="0" tIns="0" rIns="0" bIns="0" rtlCol="0" anchor="ctr"/>
          <a:lstStyle/>
          <a:p>
            <a:pPr indent="0" marL="0">
              <a:buNone/>
            </a:pPr>
            <a:r>
              <a:rPr lang="en-US" sz="1050" b="1" dirty="0">
                <a:solidFill>
                  <a:srgbClr val="0E3D28"/>
                </a:solidFill>
                <a:latin typeface="Calibri" pitchFamily="34" charset="0"/>
                <a:ea typeface="Calibri" pitchFamily="34" charset="-122"/>
                <a:cs typeface="Calibri" pitchFamily="34" charset="-120"/>
              </a:rPr>
              <a:t>Streaming &amp;</a:t>
            </a:r>
            <a:endParaRPr lang="en-US" sz="1050" dirty="0"/>
          </a:p>
          <a:p>
            <a:pPr indent="0" marL="0">
              <a:buNone/>
            </a:pPr>
            <a:r>
              <a:rPr lang="en-US" sz="1050" b="1" dirty="0">
                <a:solidFill>
                  <a:srgbClr val="0E3D28"/>
                </a:solidFill>
                <a:latin typeface="Calibri" pitchFamily="34" charset="0"/>
                <a:ea typeface="Calibri" pitchFamily="34" charset="-122"/>
                <a:cs typeface="Calibri" pitchFamily="34" charset="-120"/>
              </a:rPr>
              <a:t>Live-Übertragung</a:t>
            </a:r>
            <a:endParaRPr lang="en-US" sz="1050" dirty="0"/>
          </a:p>
        </p:txBody>
      </p:sp>
      <p:sp>
        <p:nvSpPr>
          <p:cNvPr id="20" name="Shape 16"/>
          <p:cNvSpPr/>
          <p:nvPr/>
        </p:nvSpPr>
        <p:spPr>
          <a:xfrm>
            <a:off x="548640" y="3200400"/>
            <a:ext cx="2148840" cy="868680"/>
          </a:xfrm>
          <a:prstGeom prst="roundRect">
            <a:avLst>
              <a:gd name="adj" fmla="val 8421"/>
            </a:avLst>
          </a:prstGeom>
          <a:solidFill>
            <a:srgbClr val="F4F8F5"/>
          </a:solidFill>
          <a:ln/>
          <a:effectLst>
            <a:outerShdw sx="100000" sy="100000" kx="0" ky="0" algn="bl" rotWithShape="0" blurRad="88900" dist="25400" dir="2700000">
              <a:srgbClr val="000000">
                <a:alpha val="14000"/>
              </a:srgbClr>
            </a:outerShdw>
          </a:effectLst>
        </p:spPr>
      </p:sp>
      <p:sp>
        <p:nvSpPr>
          <p:cNvPr id="21" name="Shape 17"/>
          <p:cNvSpPr/>
          <p:nvPr/>
        </p:nvSpPr>
        <p:spPr>
          <a:xfrm>
            <a:off x="704088" y="3429000"/>
            <a:ext cx="411480" cy="411480"/>
          </a:xfrm>
          <a:prstGeom prst="ellipse">
            <a:avLst/>
          </a:prstGeom>
          <a:solidFill>
            <a:srgbClr val="1B5E3B"/>
          </a:solidFill>
          <a:ln/>
        </p:spPr>
      </p:sp>
      <p:pic>
        <p:nvPicPr>
          <p:cNvPr id="22" name="Image 2" descr="preencoded.png">    </p:cNvPr>
          <p:cNvPicPr>
            <a:picLocks noChangeAspect="1"/>
          </p:cNvPicPr>
          <p:nvPr/>
        </p:nvPicPr>
        <p:blipFill>
          <a:blip r:embed="rId3"/>
          <a:stretch>
            <a:fillRect/>
          </a:stretch>
        </p:blipFill>
        <p:spPr>
          <a:xfrm>
            <a:off x="804672" y="3529584"/>
            <a:ext cx="210312" cy="210312"/>
          </a:xfrm>
          <a:prstGeom prst="rect">
            <a:avLst/>
          </a:prstGeom>
        </p:spPr>
      </p:pic>
      <p:sp>
        <p:nvSpPr>
          <p:cNvPr id="23" name="Text 18"/>
          <p:cNvSpPr/>
          <p:nvPr/>
        </p:nvSpPr>
        <p:spPr>
          <a:xfrm>
            <a:off x="1234440" y="3200400"/>
            <a:ext cx="1371600" cy="868680"/>
          </a:xfrm>
          <a:prstGeom prst="rect">
            <a:avLst/>
          </a:prstGeom>
          <a:noFill/>
          <a:ln/>
        </p:spPr>
        <p:txBody>
          <a:bodyPr wrap="square" lIns="0" tIns="0" rIns="0" bIns="0" rtlCol="0" anchor="ctr"/>
          <a:lstStyle/>
          <a:p>
            <a:pPr indent="0" marL="0">
              <a:buNone/>
            </a:pPr>
            <a:r>
              <a:rPr lang="en-US" sz="1050" b="1" dirty="0">
                <a:solidFill>
                  <a:srgbClr val="0E3D28"/>
                </a:solidFill>
                <a:latin typeface="Calibri" pitchFamily="34" charset="0"/>
                <a:ea typeface="Calibri" pitchFamily="34" charset="-122"/>
                <a:cs typeface="Calibri" pitchFamily="34" charset="-120"/>
              </a:rPr>
              <a:t>Video-Bibliothek</a:t>
            </a:r>
            <a:endParaRPr lang="en-US" sz="1050" dirty="0"/>
          </a:p>
        </p:txBody>
      </p:sp>
      <p:sp>
        <p:nvSpPr>
          <p:cNvPr id="24" name="Shape 19"/>
          <p:cNvSpPr/>
          <p:nvPr/>
        </p:nvSpPr>
        <p:spPr>
          <a:xfrm>
            <a:off x="6446520" y="3200400"/>
            <a:ext cx="2148840" cy="868680"/>
          </a:xfrm>
          <a:prstGeom prst="roundRect">
            <a:avLst>
              <a:gd name="adj" fmla="val 8421"/>
            </a:avLst>
          </a:prstGeom>
          <a:solidFill>
            <a:srgbClr val="F4F8F5"/>
          </a:solidFill>
          <a:ln/>
          <a:effectLst>
            <a:outerShdw sx="100000" sy="100000" kx="0" ky="0" algn="bl" rotWithShape="0" blurRad="88900" dist="25400" dir="2700000">
              <a:srgbClr val="000000">
                <a:alpha val="14000"/>
              </a:srgbClr>
            </a:outerShdw>
          </a:effectLst>
        </p:spPr>
      </p:sp>
      <p:sp>
        <p:nvSpPr>
          <p:cNvPr id="25" name="Shape 20"/>
          <p:cNvSpPr/>
          <p:nvPr/>
        </p:nvSpPr>
        <p:spPr>
          <a:xfrm>
            <a:off x="6601968" y="3429000"/>
            <a:ext cx="411480" cy="411480"/>
          </a:xfrm>
          <a:prstGeom prst="ellipse">
            <a:avLst/>
          </a:prstGeom>
          <a:solidFill>
            <a:srgbClr val="1B5E3B"/>
          </a:solidFill>
          <a:ln/>
        </p:spPr>
      </p:sp>
      <p:pic>
        <p:nvPicPr>
          <p:cNvPr id="26" name="Image 3" descr="preencoded.png">    </p:cNvPr>
          <p:cNvPicPr>
            <a:picLocks noChangeAspect="1"/>
          </p:cNvPicPr>
          <p:nvPr/>
        </p:nvPicPr>
        <p:blipFill>
          <a:blip r:embed="rId4"/>
          <a:stretch>
            <a:fillRect/>
          </a:stretch>
        </p:blipFill>
        <p:spPr>
          <a:xfrm>
            <a:off x="6702552" y="3529584"/>
            <a:ext cx="210312" cy="210312"/>
          </a:xfrm>
          <a:prstGeom prst="rect">
            <a:avLst/>
          </a:prstGeom>
        </p:spPr>
      </p:pic>
      <p:sp>
        <p:nvSpPr>
          <p:cNvPr id="27" name="Text 21"/>
          <p:cNvSpPr/>
          <p:nvPr/>
        </p:nvSpPr>
        <p:spPr>
          <a:xfrm>
            <a:off x="7132320" y="3200400"/>
            <a:ext cx="1371600" cy="868680"/>
          </a:xfrm>
          <a:prstGeom prst="rect">
            <a:avLst/>
          </a:prstGeom>
          <a:noFill/>
          <a:ln/>
        </p:spPr>
        <p:txBody>
          <a:bodyPr wrap="square" lIns="0" tIns="0" rIns="0" bIns="0" rtlCol="0" anchor="ctr"/>
          <a:lstStyle/>
          <a:p>
            <a:pPr indent="0" marL="0">
              <a:buNone/>
            </a:pPr>
            <a:r>
              <a:rPr lang="en-US" sz="1050" b="1" dirty="0">
                <a:solidFill>
                  <a:srgbClr val="0E3D28"/>
                </a:solidFill>
                <a:latin typeface="Calibri" pitchFamily="34" charset="0"/>
                <a:ea typeface="Calibri" pitchFamily="34" charset="-122"/>
                <a:cs typeface="Calibri" pitchFamily="34" charset="-120"/>
              </a:rPr>
              <a:t>Billard-</a:t>
            </a:r>
            <a:endParaRPr lang="en-US" sz="1050" dirty="0"/>
          </a:p>
          <a:p>
            <a:pPr indent="0" marL="0">
              <a:buNone/>
            </a:pPr>
            <a:r>
              <a:rPr lang="en-US" sz="1050" b="1" dirty="0">
                <a:solidFill>
                  <a:srgbClr val="0E3D28"/>
                </a:solidFill>
                <a:latin typeface="Calibri" pitchFamily="34" charset="0"/>
                <a:ea typeface="Calibri" pitchFamily="34" charset="-122"/>
                <a:cs typeface="Calibri" pitchFamily="34" charset="-120"/>
              </a:rPr>
              <a:t>Wissensdatenbank</a:t>
            </a:r>
            <a:endParaRPr lang="en-US" sz="1050" dirty="0"/>
          </a:p>
        </p:txBody>
      </p:sp>
      <p:sp>
        <p:nvSpPr>
          <p:cNvPr id="28" name="Text 22"/>
          <p:cNvSpPr/>
          <p:nvPr/>
        </p:nvSpPr>
        <p:spPr>
          <a:xfrm>
            <a:off x="822960" y="4343400"/>
            <a:ext cx="7498080" cy="594360"/>
          </a:xfrm>
          <a:prstGeom prst="rect">
            <a:avLst/>
          </a:prstGeom>
          <a:noFill/>
          <a:ln/>
        </p:spPr>
        <p:txBody>
          <a:bodyPr wrap="square" lIns="0" tIns="0" rIns="0" bIns="0" rtlCol="0" anchor="ctr"/>
          <a:lstStyle/>
          <a:p>
            <a:pPr algn="ctr" indent="0" marL="0">
              <a:buNone/>
            </a:pPr>
            <a:r>
              <a:rPr lang="en-US" sz="1250" dirty="0">
                <a:solidFill>
                  <a:srgbClr val="1C2B24"/>
                </a:solidFill>
                <a:latin typeface="Calibri" pitchFamily="34" charset="0"/>
                <a:ea typeface="Calibri" pitchFamily="34" charset="-122"/>
                <a:cs typeface="Calibri" pitchFamily="34" charset="-120"/>
              </a:rPr>
              <a:t>Diese vier Module sind bereits so entstanden — mit KI-Unterstützung auf Basis des offenen, klar strukturierten Quellcodes. Neue Wünsche aus dem Verband sind keine Jahresprojekte mehr.</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8229600" cy="502920"/>
          </a:xfrm>
          <a:prstGeom prst="rect">
            <a:avLst/>
          </a:prstGeom>
          <a:noFill/>
          <a:ln/>
        </p:spPr>
        <p:txBody>
          <a:bodyPr wrap="square" lIns="0" tIns="0" rIns="0" bIns="0" rtlCol="0" anchor="ctr"/>
          <a:lstStyle/>
          <a:p>
            <a:pPr indent="0" marL="0">
              <a:buNone/>
            </a:pPr>
            <a:r>
              <a:rPr lang="en-US" sz="2600" b="1" dirty="0">
                <a:solidFill>
                  <a:srgbClr val="0E3D28"/>
                </a:solidFill>
                <a:latin typeface="Cambria" pitchFamily="34" charset="0"/>
                <a:ea typeface="Cambria" pitchFamily="34" charset="-122"/>
                <a:cs typeface="Cambria" pitchFamily="34" charset="-120"/>
              </a:rPr>
              <a:t>Was kostet der Einstieg?</a:t>
            </a:r>
            <a:endParaRPr lang="en-US" sz="2600" dirty="0"/>
          </a:p>
        </p:txBody>
      </p:sp>
      <p:sp>
        <p:nvSpPr>
          <p:cNvPr id="3" name="Shape 1"/>
          <p:cNvSpPr/>
          <p:nvPr/>
        </p:nvSpPr>
        <p:spPr>
          <a:xfrm>
            <a:off x="502920" y="1280160"/>
            <a:ext cx="2606040" cy="2423160"/>
          </a:xfrm>
          <a:prstGeom prst="roundRect">
            <a:avLst>
              <a:gd name="adj" fmla="val 3019"/>
            </a:avLst>
          </a:prstGeom>
          <a:solidFill>
            <a:srgbClr val="F4F8F5"/>
          </a:solidFill>
          <a:ln/>
          <a:effectLst>
            <a:outerShdw sx="100000" sy="100000" kx="0" ky="0" algn="bl" rotWithShape="0" blurRad="88900" dist="25400" dir="2700000">
              <a:srgbClr val="000000">
                <a:alpha val="14000"/>
              </a:srgbClr>
            </a:outerShdw>
          </a:effectLst>
        </p:spPr>
      </p:sp>
      <p:sp>
        <p:nvSpPr>
          <p:cNvPr id="4" name="Text 2"/>
          <p:cNvSpPr/>
          <p:nvPr/>
        </p:nvSpPr>
        <p:spPr>
          <a:xfrm>
            <a:off x="640080" y="1554480"/>
            <a:ext cx="2331720" cy="640080"/>
          </a:xfrm>
          <a:prstGeom prst="rect">
            <a:avLst/>
          </a:prstGeom>
          <a:noFill/>
          <a:ln/>
        </p:spPr>
        <p:txBody>
          <a:bodyPr wrap="square" lIns="0" tIns="0" rIns="0" bIns="0" rtlCol="0" anchor="ctr"/>
          <a:lstStyle/>
          <a:p>
            <a:pPr algn="ctr" indent="0" marL="0">
              <a:buNone/>
            </a:pPr>
            <a:r>
              <a:rPr lang="en-US" sz="3800" b="1" dirty="0">
                <a:solidFill>
                  <a:srgbClr val="1B5E3B"/>
                </a:solidFill>
                <a:latin typeface="Cambria" pitchFamily="34" charset="0"/>
                <a:ea typeface="Cambria" pitchFamily="34" charset="-122"/>
                <a:cs typeface="Cambria" pitchFamily="34" charset="-120"/>
              </a:rPr>
              <a:t>0 €</a:t>
            </a:r>
            <a:endParaRPr lang="en-US" sz="3800" dirty="0"/>
          </a:p>
        </p:txBody>
      </p:sp>
      <p:sp>
        <p:nvSpPr>
          <p:cNvPr id="5" name="Text 3"/>
          <p:cNvSpPr/>
          <p:nvPr/>
        </p:nvSpPr>
        <p:spPr>
          <a:xfrm>
            <a:off x="640080" y="2240280"/>
            <a:ext cx="2331720" cy="320040"/>
          </a:xfrm>
          <a:prstGeom prst="rect">
            <a:avLst/>
          </a:prstGeom>
          <a:noFill/>
          <a:ln/>
        </p:spPr>
        <p:txBody>
          <a:bodyPr wrap="square" lIns="0" tIns="0" rIns="0" bIns="0" rtlCol="0" anchor="t"/>
          <a:lstStyle/>
          <a:p>
            <a:pPr algn="ctr" indent="0" marL="0">
              <a:buNone/>
            </a:pPr>
            <a:r>
              <a:rPr lang="en-US" sz="1300" b="1" dirty="0">
                <a:solidFill>
                  <a:srgbClr val="1C2B24"/>
                </a:solidFill>
                <a:latin typeface="Calibri" pitchFamily="34" charset="0"/>
                <a:ea typeface="Calibri" pitchFamily="34" charset="-122"/>
                <a:cs typeface="Calibri" pitchFamily="34" charset="-120"/>
              </a:rPr>
              <a:t>Lizenzkosten</a:t>
            </a:r>
            <a:endParaRPr lang="en-US" sz="1300" dirty="0"/>
          </a:p>
        </p:txBody>
      </p:sp>
      <p:sp>
        <p:nvSpPr>
          <p:cNvPr id="6" name="Text 4"/>
          <p:cNvSpPr/>
          <p:nvPr/>
        </p:nvSpPr>
        <p:spPr>
          <a:xfrm>
            <a:off x="758952" y="2624328"/>
            <a:ext cx="2103120" cy="960120"/>
          </a:xfrm>
          <a:prstGeom prst="rect">
            <a:avLst/>
          </a:prstGeom>
          <a:noFill/>
          <a:ln/>
        </p:spPr>
        <p:txBody>
          <a:bodyPr wrap="square" lIns="0" tIns="0" rIns="0" bIns="0" rtlCol="0" anchor="t"/>
          <a:lstStyle/>
          <a:p>
            <a:pPr algn="ctr" indent="0" marL="0">
              <a:buNone/>
            </a:pPr>
            <a:r>
              <a:rPr lang="en-US" sz="1050" dirty="0">
                <a:solidFill>
                  <a:srgbClr val="5B6E63"/>
                </a:solidFill>
                <a:latin typeface="Calibri" pitchFamily="34" charset="0"/>
                <a:ea typeface="Calibri" pitchFamily="34" charset="-122"/>
                <a:cs typeface="Calibri" pitchFamily="34" charset="-120"/>
              </a:rPr>
              <a:t>Open Source (MIT) — keine Gebühren pro Verein oder Spieler, kein Anbieter-Lock-in</a:t>
            </a:r>
            <a:endParaRPr lang="en-US" sz="1050" dirty="0"/>
          </a:p>
        </p:txBody>
      </p:sp>
      <p:sp>
        <p:nvSpPr>
          <p:cNvPr id="7" name="Shape 5"/>
          <p:cNvSpPr/>
          <p:nvPr/>
        </p:nvSpPr>
        <p:spPr>
          <a:xfrm>
            <a:off x="3319272" y="1280160"/>
            <a:ext cx="2606040" cy="2423160"/>
          </a:xfrm>
          <a:prstGeom prst="roundRect">
            <a:avLst>
              <a:gd name="adj" fmla="val 3019"/>
            </a:avLst>
          </a:prstGeom>
          <a:solidFill>
            <a:srgbClr val="F4F8F5"/>
          </a:solidFill>
          <a:ln/>
          <a:effectLst>
            <a:outerShdw sx="100000" sy="100000" kx="0" ky="0" algn="bl" rotWithShape="0" blurRad="88900" dist="25400" dir="2700000">
              <a:srgbClr val="000000">
                <a:alpha val="14000"/>
              </a:srgbClr>
            </a:outerShdw>
          </a:effectLst>
        </p:spPr>
      </p:sp>
      <p:sp>
        <p:nvSpPr>
          <p:cNvPr id="8" name="Text 6"/>
          <p:cNvSpPr/>
          <p:nvPr/>
        </p:nvSpPr>
        <p:spPr>
          <a:xfrm>
            <a:off x="3456432" y="1554480"/>
            <a:ext cx="2331720" cy="640080"/>
          </a:xfrm>
          <a:prstGeom prst="rect">
            <a:avLst/>
          </a:prstGeom>
          <a:noFill/>
          <a:ln/>
        </p:spPr>
        <p:txBody>
          <a:bodyPr wrap="square" lIns="0" tIns="0" rIns="0" bIns="0" rtlCol="0" anchor="ctr"/>
          <a:lstStyle/>
          <a:p>
            <a:pPr algn="ctr" indent="0" marL="0">
              <a:buNone/>
            </a:pPr>
            <a:r>
              <a:rPr lang="en-US" sz="3800" b="1" dirty="0">
                <a:solidFill>
                  <a:srgbClr val="1B5E3B"/>
                </a:solidFill>
                <a:latin typeface="Cambria" pitchFamily="34" charset="0"/>
                <a:ea typeface="Cambria" pitchFamily="34" charset="-122"/>
                <a:cs typeface="Cambria" pitchFamily="34" charset="-120"/>
              </a:rPr>
              <a:t>~150 €</a:t>
            </a:r>
            <a:endParaRPr lang="en-US" sz="3800" dirty="0"/>
          </a:p>
        </p:txBody>
      </p:sp>
      <p:sp>
        <p:nvSpPr>
          <p:cNvPr id="9" name="Text 7"/>
          <p:cNvSpPr/>
          <p:nvPr/>
        </p:nvSpPr>
        <p:spPr>
          <a:xfrm>
            <a:off x="3456432" y="2240280"/>
            <a:ext cx="2331720" cy="320040"/>
          </a:xfrm>
          <a:prstGeom prst="rect">
            <a:avLst/>
          </a:prstGeom>
          <a:noFill/>
          <a:ln/>
        </p:spPr>
        <p:txBody>
          <a:bodyPr wrap="square" lIns="0" tIns="0" rIns="0" bIns="0" rtlCol="0" anchor="t"/>
          <a:lstStyle/>
          <a:p>
            <a:pPr algn="ctr" indent="0" marL="0">
              <a:buNone/>
            </a:pPr>
            <a:r>
              <a:rPr lang="en-US" sz="1300" b="1" dirty="0">
                <a:solidFill>
                  <a:srgbClr val="1C2B24"/>
                </a:solidFill>
                <a:latin typeface="Calibri" pitchFamily="34" charset="0"/>
                <a:ea typeface="Calibri" pitchFamily="34" charset="-122"/>
                <a:cs typeface="Calibri" pitchFamily="34" charset="-120"/>
              </a:rPr>
              <a:t>einmalig pro Verein</a:t>
            </a:r>
            <a:endParaRPr lang="en-US" sz="1300" dirty="0"/>
          </a:p>
        </p:txBody>
      </p:sp>
      <p:sp>
        <p:nvSpPr>
          <p:cNvPr id="10" name="Text 8"/>
          <p:cNvSpPr/>
          <p:nvPr/>
        </p:nvSpPr>
        <p:spPr>
          <a:xfrm>
            <a:off x="3575304" y="2624328"/>
            <a:ext cx="2103120" cy="960120"/>
          </a:xfrm>
          <a:prstGeom prst="rect">
            <a:avLst/>
          </a:prstGeom>
          <a:noFill/>
          <a:ln/>
        </p:spPr>
        <p:txBody>
          <a:bodyPr wrap="square" lIns="0" tIns="0" rIns="0" bIns="0" rtlCol="0" anchor="t"/>
          <a:lstStyle/>
          <a:p>
            <a:pPr algn="ctr" indent="0" marL="0">
              <a:buNone/>
            </a:pPr>
            <a:r>
              <a:rPr lang="en-US" sz="1050" dirty="0">
                <a:solidFill>
                  <a:srgbClr val="5B6E63"/>
                </a:solidFill>
                <a:latin typeface="Calibri" pitchFamily="34" charset="0"/>
                <a:ea typeface="Calibri" pitchFamily="34" charset="-122"/>
                <a:cs typeface="Calibri" pitchFamily="34" charset="-120"/>
              </a:rPr>
              <a:t>Raspberry-Pi-Server im Vereinsheim — in unter einer Stunde eingerichtet</a:t>
            </a:r>
            <a:endParaRPr lang="en-US" sz="1050" dirty="0"/>
          </a:p>
        </p:txBody>
      </p:sp>
      <p:sp>
        <p:nvSpPr>
          <p:cNvPr id="11" name="Shape 9"/>
          <p:cNvSpPr/>
          <p:nvPr/>
        </p:nvSpPr>
        <p:spPr>
          <a:xfrm>
            <a:off x="6135624" y="1280160"/>
            <a:ext cx="2606040" cy="2423160"/>
          </a:xfrm>
          <a:prstGeom prst="roundRect">
            <a:avLst>
              <a:gd name="adj" fmla="val 3019"/>
            </a:avLst>
          </a:prstGeom>
          <a:solidFill>
            <a:srgbClr val="F4F8F5"/>
          </a:solidFill>
          <a:ln/>
          <a:effectLst>
            <a:outerShdw sx="100000" sy="100000" kx="0" ky="0" algn="bl" rotWithShape="0" blurRad="88900" dist="25400" dir="2700000">
              <a:srgbClr val="000000">
                <a:alpha val="14000"/>
              </a:srgbClr>
            </a:outerShdw>
          </a:effectLst>
        </p:spPr>
      </p:sp>
      <p:sp>
        <p:nvSpPr>
          <p:cNvPr id="12" name="Text 10"/>
          <p:cNvSpPr/>
          <p:nvPr/>
        </p:nvSpPr>
        <p:spPr>
          <a:xfrm>
            <a:off x="6272784" y="1554480"/>
            <a:ext cx="2331720" cy="640080"/>
          </a:xfrm>
          <a:prstGeom prst="rect">
            <a:avLst/>
          </a:prstGeom>
          <a:noFill/>
          <a:ln/>
        </p:spPr>
        <p:txBody>
          <a:bodyPr wrap="square" lIns="0" tIns="0" rIns="0" bIns="0" rtlCol="0" anchor="ctr"/>
          <a:lstStyle/>
          <a:p>
            <a:pPr algn="ctr" indent="0" marL="0">
              <a:buNone/>
            </a:pPr>
            <a:r>
              <a:rPr lang="en-US" sz="3800" b="1" dirty="0">
                <a:solidFill>
                  <a:srgbClr val="1B5E3B"/>
                </a:solidFill>
                <a:latin typeface="Cambria" pitchFamily="34" charset="0"/>
                <a:ea typeface="Cambria" pitchFamily="34" charset="-122"/>
                <a:cs typeface="Cambria" pitchFamily="34" charset="-120"/>
              </a:rPr>
              <a:t>10–50 €</a:t>
            </a:r>
            <a:endParaRPr lang="en-US" sz="3800" dirty="0"/>
          </a:p>
        </p:txBody>
      </p:sp>
      <p:sp>
        <p:nvSpPr>
          <p:cNvPr id="13" name="Text 11"/>
          <p:cNvSpPr/>
          <p:nvPr/>
        </p:nvSpPr>
        <p:spPr>
          <a:xfrm>
            <a:off x="6272784" y="2240280"/>
            <a:ext cx="2331720" cy="320040"/>
          </a:xfrm>
          <a:prstGeom prst="rect">
            <a:avLst/>
          </a:prstGeom>
          <a:noFill/>
          <a:ln/>
        </p:spPr>
        <p:txBody>
          <a:bodyPr wrap="square" lIns="0" tIns="0" rIns="0" bIns="0" rtlCol="0" anchor="t"/>
          <a:lstStyle/>
          <a:p>
            <a:pPr algn="ctr" indent="0" marL="0">
              <a:buNone/>
            </a:pPr>
            <a:r>
              <a:rPr lang="en-US" sz="1300" b="1" dirty="0">
                <a:solidFill>
                  <a:srgbClr val="1C2B24"/>
                </a:solidFill>
                <a:latin typeface="Calibri" pitchFamily="34" charset="0"/>
                <a:ea typeface="Calibri" pitchFamily="34" charset="-122"/>
                <a:cs typeface="Calibri" pitchFamily="34" charset="-120"/>
              </a:rPr>
              <a:t>pro Monat für den NBV</a:t>
            </a:r>
            <a:endParaRPr lang="en-US" sz="1300" dirty="0"/>
          </a:p>
        </p:txBody>
      </p:sp>
      <p:sp>
        <p:nvSpPr>
          <p:cNvPr id="14" name="Text 12"/>
          <p:cNvSpPr/>
          <p:nvPr/>
        </p:nvSpPr>
        <p:spPr>
          <a:xfrm>
            <a:off x="6391656" y="2624328"/>
            <a:ext cx="2103120" cy="960120"/>
          </a:xfrm>
          <a:prstGeom prst="rect">
            <a:avLst/>
          </a:prstGeom>
          <a:noFill/>
          <a:ln/>
        </p:spPr>
        <p:txBody>
          <a:bodyPr wrap="square" lIns="0" tIns="0" rIns="0" bIns="0" rtlCol="0" anchor="t"/>
          <a:lstStyle/>
          <a:p>
            <a:pPr algn="ctr" indent="0" marL="0">
              <a:buNone/>
            </a:pPr>
            <a:r>
              <a:rPr lang="en-US" sz="1050" dirty="0">
                <a:solidFill>
                  <a:srgbClr val="5B6E63"/>
                </a:solidFill>
                <a:latin typeface="Calibri" pitchFamily="34" charset="0"/>
                <a:ea typeface="Calibri" pitchFamily="34" charset="-122"/>
                <a:cs typeface="Calibri" pitchFamily="34" charset="-120"/>
              </a:rPr>
              <a:t>zentrale Verbands-Instanz in der Cloud, inklusive Betrieb und Backups</a:t>
            </a:r>
            <a:endParaRPr lang="en-US" sz="1050" dirty="0"/>
          </a:p>
        </p:txBody>
      </p:sp>
      <p:sp>
        <p:nvSpPr>
          <p:cNvPr id="15" name="Text 13"/>
          <p:cNvSpPr/>
          <p:nvPr/>
        </p:nvSpPr>
        <p:spPr>
          <a:xfrm>
            <a:off x="502920" y="3931920"/>
            <a:ext cx="8138160" cy="365760"/>
          </a:xfrm>
          <a:prstGeom prst="rect">
            <a:avLst/>
          </a:prstGeom>
          <a:noFill/>
          <a:ln/>
        </p:spPr>
        <p:txBody>
          <a:bodyPr wrap="square" lIns="0" tIns="0" rIns="0" bIns="0" rtlCol="0" anchor="ctr"/>
          <a:lstStyle/>
          <a:p>
            <a:pPr algn="ctr" indent="0" marL="0">
              <a:buNone/>
            </a:pPr>
            <a:r>
              <a:rPr lang="en-US" sz="1300" dirty="0">
                <a:solidFill>
                  <a:srgbClr val="1C2B24"/>
                </a:solidFill>
                <a:latin typeface="Calibri" pitchFamily="34" charset="0"/>
                <a:ea typeface="Calibri" pitchFamily="34" charset="-122"/>
                <a:cs typeface="Calibri" pitchFamily="34" charset="-120"/>
              </a:rPr>
              <a:t>Scoreboards und Ergebnismonitore laufen auf jedem Gerät mit Browser: TV, Touch-Display, Tablet, Smartphone.</a:t>
            </a:r>
            <a:endParaRPr lang="en-US" sz="1300" dirty="0"/>
          </a:p>
        </p:txBody>
      </p:sp>
      <p:sp>
        <p:nvSpPr>
          <p:cNvPr id="16" name="Text 14"/>
          <p:cNvSpPr/>
          <p:nvPr/>
        </p:nvSpPr>
        <p:spPr>
          <a:xfrm>
            <a:off x="502920" y="4434840"/>
            <a:ext cx="8138160" cy="365760"/>
          </a:xfrm>
          <a:prstGeom prst="rect">
            <a:avLst/>
          </a:prstGeom>
          <a:noFill/>
          <a:ln/>
        </p:spPr>
        <p:txBody>
          <a:bodyPr wrap="square" lIns="0" tIns="0" rIns="0" bIns="0" rtlCol="0" anchor="ctr"/>
          <a:lstStyle/>
          <a:p>
            <a:pPr algn="ctr" indent="0" marL="0">
              <a:buNone/>
            </a:pPr>
            <a:r>
              <a:rPr lang="en-US" sz="1400" b="1" i="1" dirty="0">
                <a:solidFill>
                  <a:srgbClr val="0E3D28"/>
                </a:solidFill>
                <a:latin typeface="Calibri" pitchFamily="34" charset="0"/>
                <a:ea typeface="Calibri" pitchFamily="34" charset="-122"/>
                <a:cs typeface="Calibri" pitchFamily="34" charset="-120"/>
              </a:rPr>
              <a:t>Zum Vergleich: Der Einstieg eines Vereins kostet weniger als ein Satz Turnierbälle.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3D28"/>
        </a:solidFill>
      </p:bgPr>
    </p:bg>
    <p:spTree>
      <p:nvGrpSpPr>
        <p:cNvPr id="1" name=""/>
        <p:cNvGrpSpPr/>
        <p:nvPr/>
      </p:nvGrpSpPr>
      <p:grpSpPr>
        <a:xfrm>
          <a:off x="0" y="0"/>
          <a:ext cx="0" cy="0"/>
          <a:chOff x="0" y="0"/>
          <a:chExt cx="0" cy="0"/>
        </a:xfrm>
      </p:grpSpPr>
      <p:sp>
        <p:nvSpPr>
          <p:cNvPr id="2" name="Text 0"/>
          <p:cNvSpPr/>
          <p:nvPr/>
        </p:nvSpPr>
        <p:spPr>
          <a:xfrm>
            <a:off x="548640" y="411480"/>
            <a:ext cx="804672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Vorschlag an den NBV</a:t>
            </a:r>
            <a:endParaRPr lang="en-US" sz="3000" dirty="0"/>
          </a:p>
        </p:txBody>
      </p:sp>
      <p:sp>
        <p:nvSpPr>
          <p:cNvPr id="3" name="Shape 1"/>
          <p:cNvSpPr/>
          <p:nvPr/>
        </p:nvSpPr>
        <p:spPr>
          <a:xfrm>
            <a:off x="640080" y="1234440"/>
            <a:ext cx="502920" cy="502920"/>
          </a:xfrm>
          <a:prstGeom prst="ellipse">
            <a:avLst/>
          </a:prstGeom>
          <a:solidFill>
            <a:srgbClr val="D9A82B"/>
          </a:solidFill>
          <a:ln/>
        </p:spPr>
      </p:sp>
      <p:sp>
        <p:nvSpPr>
          <p:cNvPr id="4" name="Text 2"/>
          <p:cNvSpPr/>
          <p:nvPr/>
        </p:nvSpPr>
        <p:spPr>
          <a:xfrm>
            <a:off x="640080" y="1234440"/>
            <a:ext cx="502920" cy="502920"/>
          </a:xfrm>
          <a:prstGeom prst="rect">
            <a:avLst/>
          </a:prstGeom>
          <a:noFill/>
          <a:ln/>
        </p:spPr>
        <p:txBody>
          <a:bodyPr wrap="square" lIns="0" tIns="0" rIns="0" bIns="0" rtlCol="0" anchor="ctr"/>
          <a:lstStyle/>
          <a:p>
            <a:pPr algn="ctr" indent="0" marL="0">
              <a:buNone/>
            </a:pPr>
            <a:r>
              <a:rPr lang="en-US" sz="1800" b="1" dirty="0">
                <a:solidFill>
                  <a:srgbClr val="0E3D28"/>
                </a:solidFill>
                <a:latin typeface="Cambria" pitchFamily="34" charset="0"/>
                <a:ea typeface="Cambria" pitchFamily="34" charset="-122"/>
                <a:cs typeface="Cambria" pitchFamily="34" charset="-120"/>
              </a:rPr>
              <a:t>1</a:t>
            </a:r>
            <a:endParaRPr lang="en-US" sz="1800" dirty="0"/>
          </a:p>
        </p:txBody>
      </p:sp>
      <p:sp>
        <p:nvSpPr>
          <p:cNvPr id="5" name="Text 3"/>
          <p:cNvSpPr/>
          <p:nvPr/>
        </p:nvSpPr>
        <p:spPr>
          <a:xfrm>
            <a:off x="1371600" y="1216152"/>
            <a:ext cx="731520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Pilot starten</a:t>
            </a:r>
            <a:endParaRPr lang="en-US" sz="1500" dirty="0"/>
          </a:p>
        </p:txBody>
      </p:sp>
      <p:sp>
        <p:nvSpPr>
          <p:cNvPr id="6" name="Text 4"/>
          <p:cNvSpPr/>
          <p:nvPr/>
        </p:nvSpPr>
        <p:spPr>
          <a:xfrm>
            <a:off x="1371600" y="1536192"/>
            <a:ext cx="7315200" cy="548640"/>
          </a:xfrm>
          <a:prstGeom prst="rect">
            <a:avLst/>
          </a:prstGeom>
          <a:noFill/>
          <a:ln/>
        </p:spPr>
        <p:txBody>
          <a:bodyPr wrap="square" lIns="0" tIns="0" rIns="0" bIns="0" rtlCol="0" anchor="ctr"/>
          <a:lstStyle/>
          <a:p>
            <a:pPr indent="0" marL="0">
              <a:buNone/>
            </a:pPr>
            <a:r>
              <a:rPr lang="en-US" sz="1200" dirty="0">
                <a:solidFill>
                  <a:srgbClr val="CFE5D8"/>
                </a:solidFill>
                <a:latin typeface="Calibri" pitchFamily="34" charset="0"/>
                <a:ea typeface="Calibri" pitchFamily="34" charset="-122"/>
                <a:cs typeface="Calibri" pitchFamily="34" charset="-120"/>
              </a:rPr>
              <a:t>2–3 Vereine rüsten zur Saison 2026/27 mit Carambus aus — je ca. 150 € Hardware</a:t>
            </a:r>
            <a:endParaRPr lang="en-US" sz="1200" dirty="0"/>
          </a:p>
        </p:txBody>
      </p:sp>
      <p:sp>
        <p:nvSpPr>
          <p:cNvPr id="7" name="Shape 5"/>
          <p:cNvSpPr/>
          <p:nvPr/>
        </p:nvSpPr>
        <p:spPr>
          <a:xfrm>
            <a:off x="640080" y="2258568"/>
            <a:ext cx="502920" cy="502920"/>
          </a:xfrm>
          <a:prstGeom prst="ellipse">
            <a:avLst/>
          </a:prstGeom>
          <a:solidFill>
            <a:srgbClr val="D9A82B"/>
          </a:solidFill>
          <a:ln/>
        </p:spPr>
      </p:sp>
      <p:sp>
        <p:nvSpPr>
          <p:cNvPr id="8" name="Text 6"/>
          <p:cNvSpPr/>
          <p:nvPr/>
        </p:nvSpPr>
        <p:spPr>
          <a:xfrm>
            <a:off x="640080" y="2258568"/>
            <a:ext cx="502920" cy="502920"/>
          </a:xfrm>
          <a:prstGeom prst="rect">
            <a:avLst/>
          </a:prstGeom>
          <a:noFill/>
          <a:ln/>
        </p:spPr>
        <p:txBody>
          <a:bodyPr wrap="square" lIns="0" tIns="0" rIns="0" bIns="0" rtlCol="0" anchor="ctr"/>
          <a:lstStyle/>
          <a:p>
            <a:pPr algn="ctr" indent="0" marL="0">
              <a:buNone/>
            </a:pPr>
            <a:r>
              <a:rPr lang="en-US" sz="1800" b="1" dirty="0">
                <a:solidFill>
                  <a:srgbClr val="0E3D28"/>
                </a:solidFill>
                <a:latin typeface="Cambria" pitchFamily="34" charset="0"/>
                <a:ea typeface="Cambria" pitchFamily="34" charset="-122"/>
                <a:cs typeface="Cambria" pitchFamily="34" charset="-120"/>
              </a:rPr>
              <a:t>2</a:t>
            </a:r>
            <a:endParaRPr lang="en-US" sz="1800" dirty="0"/>
          </a:p>
        </p:txBody>
      </p:sp>
      <p:sp>
        <p:nvSpPr>
          <p:cNvPr id="9" name="Text 7"/>
          <p:cNvSpPr/>
          <p:nvPr/>
        </p:nvSpPr>
        <p:spPr>
          <a:xfrm>
            <a:off x="1371600" y="2240280"/>
            <a:ext cx="731520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Trägerschaft klären</a:t>
            </a:r>
            <a:endParaRPr lang="en-US" sz="1500" dirty="0"/>
          </a:p>
        </p:txBody>
      </p:sp>
      <p:sp>
        <p:nvSpPr>
          <p:cNvPr id="10" name="Text 8"/>
          <p:cNvSpPr/>
          <p:nvPr/>
        </p:nvSpPr>
        <p:spPr>
          <a:xfrm>
            <a:off x="1371600" y="2560320"/>
            <a:ext cx="7315200" cy="548640"/>
          </a:xfrm>
          <a:prstGeom prst="rect">
            <a:avLst/>
          </a:prstGeom>
          <a:noFill/>
          <a:ln/>
        </p:spPr>
        <p:txBody>
          <a:bodyPr wrap="square" lIns="0" tIns="0" rIns="0" bIns="0" rtlCol="0" anchor="ctr"/>
          <a:lstStyle/>
          <a:p>
            <a:pPr indent="0" marL="0">
              <a:buNone/>
            </a:pPr>
            <a:r>
              <a:rPr lang="en-US" sz="1200" dirty="0">
                <a:solidFill>
                  <a:srgbClr val="CFE5D8"/>
                </a:solidFill>
                <a:latin typeface="Calibri" pitchFamily="34" charset="0"/>
                <a:ea typeface="Calibri" pitchFamily="34" charset="-122"/>
                <a:cs typeface="Calibri" pitchFamily="34" charset="-120"/>
              </a:rPr>
              <a:t>Der NBV übernimmt die zentrale Instanz — Betriebskosten unter 600 € im Jahr</a:t>
            </a:r>
            <a:endParaRPr lang="en-US" sz="1200" dirty="0"/>
          </a:p>
        </p:txBody>
      </p:sp>
      <p:sp>
        <p:nvSpPr>
          <p:cNvPr id="11" name="Shape 9"/>
          <p:cNvSpPr/>
          <p:nvPr/>
        </p:nvSpPr>
        <p:spPr>
          <a:xfrm>
            <a:off x="640080" y="3282696"/>
            <a:ext cx="502920" cy="502920"/>
          </a:xfrm>
          <a:prstGeom prst="ellipse">
            <a:avLst/>
          </a:prstGeom>
          <a:solidFill>
            <a:srgbClr val="D9A82B"/>
          </a:solidFill>
          <a:ln/>
        </p:spPr>
      </p:sp>
      <p:sp>
        <p:nvSpPr>
          <p:cNvPr id="12" name="Text 10"/>
          <p:cNvSpPr/>
          <p:nvPr/>
        </p:nvSpPr>
        <p:spPr>
          <a:xfrm>
            <a:off x="640080" y="3282696"/>
            <a:ext cx="502920" cy="502920"/>
          </a:xfrm>
          <a:prstGeom prst="rect">
            <a:avLst/>
          </a:prstGeom>
          <a:noFill/>
          <a:ln/>
        </p:spPr>
        <p:txBody>
          <a:bodyPr wrap="square" lIns="0" tIns="0" rIns="0" bIns="0" rtlCol="0" anchor="ctr"/>
          <a:lstStyle/>
          <a:p>
            <a:pPr algn="ctr" indent="0" marL="0">
              <a:buNone/>
            </a:pPr>
            <a:r>
              <a:rPr lang="en-US" sz="1800" b="1" dirty="0">
                <a:solidFill>
                  <a:srgbClr val="0E3D28"/>
                </a:solidFill>
                <a:latin typeface="Cambria" pitchFamily="34" charset="0"/>
                <a:ea typeface="Cambria" pitchFamily="34" charset="-122"/>
                <a:cs typeface="Cambria" pitchFamily="34" charset="-120"/>
              </a:rPr>
              <a:t>3</a:t>
            </a:r>
            <a:endParaRPr lang="en-US" sz="1800" dirty="0"/>
          </a:p>
        </p:txBody>
      </p:sp>
      <p:sp>
        <p:nvSpPr>
          <p:cNvPr id="13" name="Text 11"/>
          <p:cNvSpPr/>
          <p:nvPr/>
        </p:nvSpPr>
        <p:spPr>
          <a:xfrm>
            <a:off x="1371600" y="3264408"/>
            <a:ext cx="731520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Arbeitsgruppe bilden</a:t>
            </a:r>
            <a:endParaRPr lang="en-US" sz="1500" dirty="0"/>
          </a:p>
        </p:txBody>
      </p:sp>
      <p:sp>
        <p:nvSpPr>
          <p:cNvPr id="14" name="Text 12"/>
          <p:cNvSpPr/>
          <p:nvPr/>
        </p:nvSpPr>
        <p:spPr>
          <a:xfrm>
            <a:off x="1371600" y="3584448"/>
            <a:ext cx="7315200" cy="548640"/>
          </a:xfrm>
          <a:prstGeom prst="rect">
            <a:avLst/>
          </a:prstGeom>
          <a:noFill/>
          <a:ln/>
        </p:spPr>
        <p:txBody>
          <a:bodyPr wrap="square" lIns="0" tIns="0" rIns="0" bIns="0" rtlCol="0" anchor="ctr"/>
          <a:lstStyle/>
          <a:p>
            <a:pPr indent="0" marL="0">
              <a:buNone/>
            </a:pPr>
            <a:r>
              <a:rPr lang="en-US" sz="1200" dirty="0">
                <a:solidFill>
                  <a:srgbClr val="CFE5D8"/>
                </a:solidFill>
                <a:latin typeface="Calibri" pitchFamily="34" charset="0"/>
                <a:ea typeface="Calibri" pitchFamily="34" charset="-122"/>
                <a:cs typeface="Calibri" pitchFamily="34" charset="-120"/>
              </a:rPr>
              <a:t>Sportwarte und 1–2 technikinteressierte Mitglieder begleiten den Pilot — so bleibt das Wissen im Verband</a:t>
            </a:r>
            <a:endParaRPr lang="en-US" sz="1200" dirty="0"/>
          </a:p>
        </p:txBody>
      </p:sp>
      <p:sp>
        <p:nvSpPr>
          <p:cNvPr id="15" name="Text 13"/>
          <p:cNvSpPr/>
          <p:nvPr/>
        </p:nvSpPr>
        <p:spPr>
          <a:xfrm>
            <a:off x="548640" y="4526280"/>
            <a:ext cx="8046720" cy="320040"/>
          </a:xfrm>
          <a:prstGeom prst="rect">
            <a:avLst/>
          </a:prstGeom>
          <a:noFill/>
          <a:ln/>
        </p:spPr>
        <p:txBody>
          <a:bodyPr wrap="square" lIns="0" tIns="0" rIns="0" bIns="0" rtlCol="0" anchor="ctr"/>
          <a:lstStyle/>
          <a:p>
            <a:pPr indent="0" marL="0">
              <a:buNone/>
            </a:pPr>
            <a:r>
              <a:rPr lang="en-US" sz="1200" dirty="0">
                <a:solidFill>
                  <a:srgbClr val="E8C97E"/>
                </a:solidFill>
                <a:latin typeface="Calibri" pitchFamily="34" charset="0"/>
                <a:ea typeface="Calibri" pitchFamily="34" charset="-122"/>
                <a:cs typeface="Calibri" pitchFamily="34" charset="-120"/>
              </a:rPr>
              <a:t>Gernot Ullrich  ·  gernot.ullrich@gmx.de  ·  github.com/GernotUllrich/carambus  —  Live-Demo jederzeit gern, vor Ort oder online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Carambus – Pitch für den NBV</dc:title>
  <dc:subject>PptxGenJS Presentation</dc:subject>
  <dc:creator>Gernot Ullrich</dc:creator>
  <cp:lastModifiedBy>Gernot Ullrich</cp:lastModifiedBy>
  <cp:revision>1</cp:revision>
  <dcterms:created xsi:type="dcterms:W3CDTF">2026-07-02T19:11:05Z</dcterms:created>
  <dcterms:modified xsi:type="dcterms:W3CDTF">2026-07-02T19:11:05Z</dcterms:modified>
</cp:coreProperties>
</file>