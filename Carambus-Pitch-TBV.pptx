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Der TBV kann seine Einzelmeisterschaften ohne ClubCloud fahren — die technische Kette steht bereits, inklusive Pilot-Standort Erfurt.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 der zentralen Carambus-Datenbank, Juli 2026. Der TBV ist der erste Verband, für den die CC-lose Kette vollständig gebaut wurde.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Bewusst sachlich mit Zahlen statt Meinung. Der Punkt ist nicht, dass die ClubCloud schlecht ist — sondern dass sie für den Turnier-Lebenszyklus Arbeit erzeugt, die niemand braucht.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Slide nimmt den erwartbaren Einwand vorweg: 'Wollen wir raus aus der DBU-Struktur?' Nein. Nur die eigenen Turniere laufen ohne Umweg.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 für Rückfragen: Zwei Vereinsserver reden nie direkt miteinander, jeder Weg führt über die Zentrale. Das hält die Datenhoheit eindeutig.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Assistent ist bewusst für ehrenamtliche Turnierleiter gebaut, nicht für IT-Fachleute. Jeder Schritt hat eine Inline-Hilfe.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der zweite, größere Teil des Angebots: nicht nur ohne ClubCloud, sondern deutlich weniger Arbeit als mit ihr.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Referenz Wedel: seit 2022 im Ligabetrieb, bei Vereinsturnieren und für die Tischreservierung produktiv.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Slide nimmt die Betriebsrisiken vorweg, die ein Vorstand zu Recht abfragt.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Unabhängigkeitsfrage zuerst, die Kosten danach — in dieser Reihenfolge, weil die Kosten ohne die Unabhängigkeit nichts wert wären.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Pilot ist absichtlich klein geschnitten: eine Meisterschaft, ein Standort, Papier als Rückfallebene. Damit ist die Entscheidung risikoarm.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" y="566928"/>
            <a:ext cx="384048" cy="384048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64208" y="566928"/>
            <a:ext cx="384048" cy="384048"/>
          </a:xfrm>
          <a:prstGeom prst="ellipse">
            <a:avLst/>
          </a:prstGeom>
          <a:solidFill>
            <a:srgbClr val="B3403A"/>
          </a:solidFill>
          <a:ln w="12700">
            <a:solidFill>
              <a:srgbClr val="B34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Einzelmeisterschaften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ohne ClubCloud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Carambus für den Thüringer Billard Verband — Turnierverwaltung in eigener Hand, mit weniger Arbeit als heute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Thüringen ist bei den Ligen unabhängig von der ClubCloud. Bei den Einzelmeisterschaften gibt es noch keine Entscheidung.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439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Vizepräsidenten des TBV  ·  Gernot Ullrich  ·  Billardclub Wedel 61 e.V.  ·  Open Source (MIT)  ·  Juli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TBV ist kein ClubCloud-Verband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heute schon in Carambus liegt — ohne dass dafür je eine ClubCloud-Instanz des TBV nötig war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Thüringer Billard Verband betreibt keine eigene ClubCloud.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Carambus liest die Thüringer Ligen aus dem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LigaManager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 Regelbetrieb, seit dem Cutover.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395728"/>
            <a:ext cx="128016" cy="128016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30428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 &amp; Spieler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 aus der DBU-ClubCloud — und bleiben dort gepflegt.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30352" y="3054096"/>
            <a:ext cx="128016" cy="128016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96265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Ligen &amp; Spielpläne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Ligen in Carambus — gepflegt ohne ClubCloud.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0352" y="3712464"/>
            <a:ext cx="128016" cy="128016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6210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Turnierhistorie —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Saisons durchgängig — von 2011/12 bis 2025/26.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5179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0916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137160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5179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720840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65176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7980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09160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2651760"/>
            <a:ext cx="1828800" cy="1097280"/>
          </a:xfrm>
          <a:prstGeom prst="roundRect">
            <a:avLst>
              <a:gd name="adj" fmla="val 5000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27980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720840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Turniere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931920"/>
            <a:ext cx="3840480" cy="603504"/>
          </a:xfrm>
          <a:prstGeom prst="roundRect">
            <a:avLst>
              <a:gd name="adj" fmla="val 9091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93192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4.742 gespielte Partien in TBV-Turnieren sind bereits erfasst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Daten sind da. Was fehlt, ist der Turnier-Lebenszyklus — Anlage, Meldeliste, Durchführung, Ergebnis. Genau die Lücke schließt Carambus jetzt.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der Umweg über ein Fremdsystem kostet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Gemessen an den dokumentierten Klickstrecken der ClubCloud-Oberfläche — pro Vorgang, pro Turnier, pro Saison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AEDEC"/>
          </a:solidFill>
          <a:ln w="12700">
            <a:solidFill>
              <a:srgbClr val="FA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3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12–15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12140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241401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eine einzige Anmeldung aus einer E-Mail — pro Spieler wieder von vorn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141732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AEDEC"/>
          </a:solidFill>
          <a:ln w="12700">
            <a:solidFill>
              <a:srgbClr val="FA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64408" y="155448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3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64408" y="212140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65576" y="241401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um Status und Meldeliste eines Turniers zu sehen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25896" y="1417320"/>
            <a:ext cx="2615184" cy="1600200"/>
          </a:xfrm>
          <a:prstGeom prst="roundRect">
            <a:avLst>
              <a:gd name="adj" fmla="val 3429"/>
            </a:avLst>
          </a:prstGeom>
          <a:solidFill>
            <a:srgbClr val="FAEDEC"/>
          </a:solidFill>
          <a:ln w="12700">
            <a:solidFill>
              <a:srgbClr val="FAEDE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25896" y="155448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34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25896" y="212140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4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Klicks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27064" y="2414016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Finalisieren der Meldeliste — und dieser Schritt ist nicht umkehrbar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64992"/>
            <a:ext cx="118872" cy="118872"/>
          </a:xfrm>
          <a:prstGeom prst="ellipse">
            <a:avLst/>
          </a:prstGeom>
          <a:solidFill>
            <a:srgbClr val="B3403A"/>
          </a:solidFill>
          <a:ln w="12700">
            <a:solidFill>
              <a:srgbClr val="B34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" y="324612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Doppelte Erfassung —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am Tisch schon eingegeben wurde, wird später noch einmal getippt.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45152" y="3364992"/>
            <a:ext cx="118872" cy="118872"/>
          </a:xfrm>
          <a:prstGeom prst="ellipse">
            <a:avLst/>
          </a:prstGeom>
          <a:solidFill>
            <a:srgbClr val="B3403A"/>
          </a:solidFill>
          <a:ln w="12700">
            <a:solidFill>
              <a:srgbClr val="B340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82896" y="3246120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ohne Rückfahrkarte —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Falsches Turnier finalisiert — das lässt sich nicht zurücknehmen.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023360"/>
            <a:ext cx="118872" cy="118872"/>
          </a:xfrm>
          <a:prstGeom prst="ellipse">
            <a:avLst/>
          </a:prstGeom>
          <a:solidFill>
            <a:srgbClr val="B3403A"/>
          </a:solidFill>
          <a:ln w="12700">
            <a:solidFill>
              <a:srgbClr val="B340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3904488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 an einer Person —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die Klickstrecke kennt, ist unersetzlich. Wer sie nicht kennt, traut sich nicht.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45152" y="4023360"/>
            <a:ext cx="118872" cy="118872"/>
          </a:xfrm>
          <a:prstGeom prst="ellipse">
            <a:avLst/>
          </a:prstGeom>
          <a:solidFill>
            <a:srgbClr val="B3403A"/>
          </a:solidFill>
          <a:ln w="12700">
            <a:solidFill>
              <a:srgbClr val="B34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3904488"/>
            <a:ext cx="3703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Fremde Terminhoheit —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Rollover, Rollen, Freigaben — der Takt kommt von außen, nicht vom Verband.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Prozessdokumentation der ClubCloud-Arbeitsabläufe im Carambus-Projekt, Stand 2026 — Klickzahlen aus der Praxis von Sportwarten.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ClubCloud-los heißt nicht ClubCloud-frei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Vorschlag ist ein präziser Schnitt, kein Bruch mit der DBU — das ist wichtig für die Bewertung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2971800"/>
          </a:xfrm>
          <a:prstGeom prst="roundRect">
            <a:avLst>
              <a:gd name="adj" fmla="val 2154"/>
            </a:avLst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059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Entkoppelt wird: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Turnier-Lebenszyklus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578608"/>
            <a:ext cx="109728" cy="109728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487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Turnier anlegen und terminieren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2980944"/>
            <a:ext cx="109728" cy="109728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8895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Meldeliste und Setzliste pflegen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3383280"/>
            <a:ext cx="109728" cy="109728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2918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Turnier durchführen und werten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785616"/>
            <a:ext cx="109728" cy="109728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6941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und Rangliste festschreiben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7724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macht der TBV künftig selbst — in Carambus.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09160" y="1417320"/>
            <a:ext cx="3931920" cy="2971800"/>
          </a:xfrm>
          <a:prstGeom prst="roundRect">
            <a:avLst>
              <a:gd name="adj" fmla="val 2154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83480" y="1691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805940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7840" y="166420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Bleibt, wie es ist: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Stammdaten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029200" y="2578608"/>
            <a:ext cx="109728" cy="109728"/>
          </a:xfrm>
          <a:prstGeom prst="ellipse">
            <a:avLst/>
          </a:prstGeom>
          <a:solidFill>
            <a:srgbClr val="1D6540"/>
          </a:solidFill>
          <a:ln w="12700">
            <a:solidFill>
              <a:srgbClr val="1D654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57800" y="24871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 und Spieler über die DBU-ClubCloud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5029200" y="2980944"/>
            <a:ext cx="109728" cy="109728"/>
          </a:xfrm>
          <a:prstGeom prst="ellipse">
            <a:avLst/>
          </a:prstGeom>
          <a:solidFill>
            <a:srgbClr val="1D6540"/>
          </a:solidFill>
          <a:ln w="12700">
            <a:solidFill>
              <a:srgbClr val="1D65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57800" y="28895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Spielberechtigungen und DBU-Nummern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5029200" y="3383280"/>
            <a:ext cx="109728" cy="109728"/>
          </a:xfrm>
          <a:prstGeom prst="ellipse">
            <a:avLst/>
          </a:prstGeom>
          <a:solidFill>
            <a:srgbClr val="1D6540"/>
          </a:solidFill>
          <a:ln w="12700">
            <a:solidFill>
              <a:srgbClr val="1D654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257800" y="32918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Carambus legt niemals selbst Spieler an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029200" y="3785616"/>
            <a:ext cx="109728" cy="109728"/>
          </a:xfrm>
          <a:prstGeom prst="ellipse">
            <a:avLst/>
          </a:prstGeom>
          <a:solidFill>
            <a:srgbClr val="1D6540"/>
          </a:solidFill>
          <a:ln w="12700">
            <a:solidFill>
              <a:srgbClr val="1D654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57800" y="36941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Zuordnung ausschließlich über die DBU-Nummer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4983480" y="39867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1D6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Landesverbände sind DBU-Mitglieder — daran ändert sich nichts.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Drei Rollen, ein Weg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Sportwart pflegt, die Zentrale verteilt, im Vereinsheim wird gespielt. Das Ergebnis findet allein zurück.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514600" cy="1627632"/>
          </a:xfrm>
          <a:prstGeom prst="roundRect">
            <a:avLst>
              <a:gd name="adj" fmla="val 3933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609344"/>
            <a:ext cx="274320" cy="274320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627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901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tbv.carambus.de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" y="2212848"/>
            <a:ext cx="21122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Sportwart legt Turniere an und pflegt die Meldeliste.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481328"/>
            <a:ext cx="2514600" cy="1627632"/>
          </a:xfrm>
          <a:prstGeom prst="roundRect">
            <a:avLst>
              <a:gd name="adj" fmla="val 3933"/>
            </a:avLst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38144" y="1609344"/>
            <a:ext cx="274320" cy="27432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38144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67328" y="1627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Carambus-Zentrale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67328" y="1901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api.carambus.de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11296" y="2212848"/>
            <a:ext cx="21122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Erhält Turnierdaten und Meldeliste vom Region Server und verteilt sie an alle Standorte.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481328"/>
            <a:ext cx="2514600" cy="1627632"/>
          </a:xfrm>
          <a:prstGeom prst="roundRect">
            <a:avLst>
              <a:gd name="adj" fmla="val 3933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4496" y="1609344"/>
            <a:ext cx="274320" cy="274320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6276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Server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19019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Vereinsheim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27648" y="2212848"/>
            <a:ext cx="21122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wird gespielt — und hier entsteht das Ergebnis.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72384" y="2286000"/>
            <a:ext cx="219456" cy="0"/>
          </a:xfrm>
          <a:prstGeom prst="line">
            <a:avLst/>
          </a:prstGeom>
          <a:noFill/>
          <a:ln w="31750">
            <a:solidFill>
              <a:srgbClr val="1D654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888736" y="2286000"/>
            <a:ext cx="219456" cy="0"/>
          </a:xfrm>
          <a:prstGeom prst="line">
            <a:avLst/>
          </a:prstGeom>
          <a:noFill/>
          <a:ln w="31750">
            <a:solidFill>
              <a:srgbClr val="1D654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" y="3502152"/>
            <a:ext cx="6446520" cy="0"/>
          </a:xfrm>
          <a:prstGeom prst="line">
            <a:avLst/>
          </a:prstGeom>
          <a:noFill/>
          <a:ln w="31750">
            <a:solidFill>
              <a:srgbClr val="E0AC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9480" y="3127248"/>
            <a:ext cx="0" cy="374904"/>
          </a:xfrm>
          <a:prstGeom prst="line">
            <a:avLst/>
          </a:prstGeom>
          <a:noFill/>
          <a:ln w="31750">
            <a:solidFill>
              <a:srgbClr val="E0AC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127248"/>
            <a:ext cx="0" cy="374904"/>
          </a:xfrm>
          <a:prstGeom prst="line">
            <a:avLst/>
          </a:prstGeom>
          <a:noFill/>
          <a:ln w="31750">
            <a:solidFill>
              <a:srgbClr val="E0AC2B"/>
            </a:solidFill>
            <a:prstDash val="solid"/>
            <a:headEnd type="triangle"/>
          </a:ln>
        </p:spPr>
      </p:sp>
      <p:sp>
        <p:nvSpPr>
          <p:cNvPr id="27" name="Text 25"/>
          <p:cNvSpPr/>
          <p:nvPr/>
        </p:nvSpPr>
        <p:spPr>
          <a:xfrm>
            <a:off x="1005840" y="354787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und Endrangliste gehen automatisch an den Verbandsserver zurück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3950208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950208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Standort hängt am Netz.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Fällt im Vereinsheim das Internet aus, läuft das Turnier weiter — gemeldet wird später.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950208"/>
            <a:ext cx="3931920" cy="694944"/>
          </a:xfrm>
          <a:prstGeom prst="roundRect">
            <a:avLst>
              <a:gd name="adj" fmla="val 7895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950208"/>
            <a:ext cx="3639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Thüringen steht die Kette schon.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Erfurter Billardclub mit 3 Tischen → tbv.carambus.de → Zentrale. Geprüft.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Sportwart: sechs Schritte, dann läuft 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geführter Assistent statt Klickstrecke — jeder Schritt erklärt sich selbst, jeder Schritt ist umkehrbar bis zur Freigabe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384048" cy="384048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97864" y="16824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Meldeliste holen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" y="21396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Angemeldete Spieler landen im Turnier — auf Knopfdruck, nicht per Hand.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148132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65576" y="1664208"/>
            <a:ext cx="384048" cy="384048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59352" y="16824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Setzliste übernehmen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83864" y="21396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Einladung als PDF oder Foto hochladen: Namen, Vorgaben, Gruppen und Modus werden ausgelesen.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1481328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27064" y="1664208"/>
            <a:ext cx="384048" cy="384048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2706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168249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Teilnehmer bearbeiten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45352" y="213969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Nichtantritte streichen, Nachmelder ergänzen, Positionen verschieben — mit Ranglisten-Anzeige.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054096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3236976"/>
            <a:ext cx="384048" cy="384048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97864" y="3255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finalisieren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2376" y="37124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klarer Punkt, ab dem die Teilnehmerliste steht.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4408" y="3054096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65576" y="3236976"/>
            <a:ext cx="384048" cy="384048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59352" y="3255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 &amp; Gruppen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483864" y="37124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 Turnierpläne werden vorgeschlagen, die Gruppen verbandskonform berechnet.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25896" y="3054096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27064" y="3236976"/>
            <a:ext cx="384048" cy="384048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20840" y="32552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Turnier starten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245352" y="37124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Tische zuordnen, Ausspielziel setzen — die Scoreboards gehen von selbst an.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ist der Zeitfresser von heute — und in Carambus ein Upload: Einladung rein, Setzliste steht. Schulungsbedarf für einen Sportwart: zwei bis drei Stunden.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Turniertag ohne Verwaltung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erfassen — der Rest passiert von selbst. Von der Einladung des Sportwarts bis zur Verbandsrangliste ist keine Handarbeit mehr nötig.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463040" cy="2121408"/>
          </a:xfrm>
          <a:prstGeom prst="roundRect">
            <a:avLst>
              <a:gd name="adj" fmla="val 4375"/>
            </a:avLst>
          </a:prstGeom>
          <a:solidFill>
            <a:srgbClr val="0E3320"/>
          </a:solidFill>
          <a:ln w="12700">
            <a:solidFill>
              <a:srgbClr val="1C4A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91640"/>
            <a:ext cx="457200" cy="457200"/>
          </a:xfrm>
          <a:prstGeom prst="ellipse">
            <a:avLst/>
          </a:prstGeom>
          <a:solidFill>
            <a:srgbClr val="1D6540"/>
          </a:solidFill>
          <a:ln w="12700">
            <a:solidFill>
              <a:srgbClr val="1D654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8059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31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Einladung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2648" y="2651760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oder Foto — Text, Vorgaben und Modus werden ausgelesen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93392" y="1920240"/>
            <a:ext cx="155448" cy="0"/>
          </a:xfrm>
          <a:prstGeom prst="line">
            <a:avLst/>
          </a:prstGeom>
          <a:noFill/>
          <a:ln w="25400">
            <a:solidFill>
              <a:srgbClr val="E0AC2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76272" y="1481328"/>
            <a:ext cx="1463040" cy="2121408"/>
          </a:xfrm>
          <a:prstGeom prst="roundRect">
            <a:avLst>
              <a:gd name="adj" fmla="val 4375"/>
            </a:avLst>
          </a:prstGeom>
          <a:solidFill>
            <a:srgbClr val="0E3320"/>
          </a:solidFill>
          <a:ln w="12700">
            <a:solidFill>
              <a:srgbClr val="1C4A3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79192" y="1691640"/>
            <a:ext cx="457200" cy="457200"/>
          </a:xfrm>
          <a:prstGeom prst="ellipse">
            <a:avLst/>
          </a:prstGeom>
          <a:solidFill>
            <a:srgbClr val="1D6540"/>
          </a:solidFill>
          <a:ln w="12700">
            <a:solidFill>
              <a:srgbClr val="1D65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92" y="18059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67712" y="2231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Setzliste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286000" y="2651760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nach dem Carambus-Ranking der Disziplin sortiert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666744" y="1920240"/>
            <a:ext cx="155448" cy="0"/>
          </a:xfrm>
          <a:prstGeom prst="line">
            <a:avLst/>
          </a:prstGeom>
          <a:noFill/>
          <a:ln w="25400">
            <a:solidFill>
              <a:srgbClr val="E0AC2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849624" y="1481328"/>
            <a:ext cx="1463040" cy="2121408"/>
          </a:xfrm>
          <a:prstGeom prst="roundRect">
            <a:avLst>
              <a:gd name="adj" fmla="val 4375"/>
            </a:avLst>
          </a:prstGeom>
          <a:solidFill>
            <a:srgbClr val="0E3320"/>
          </a:solidFill>
          <a:ln w="12700">
            <a:solidFill>
              <a:srgbClr val="1C4A3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52544" y="1691640"/>
            <a:ext cx="457200" cy="457200"/>
          </a:xfrm>
          <a:prstGeom prst="ellipse">
            <a:avLst/>
          </a:prstGeom>
          <a:solidFill>
            <a:srgbClr val="1D6540"/>
          </a:solidFill>
          <a:ln w="12700">
            <a:solidFill>
              <a:srgbClr val="1D654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44" y="180594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41064" y="2231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 &amp; Spielplan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959352" y="2651760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verbandskonform berechnet, Tische automatisch zugeordnet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340096" y="1920240"/>
            <a:ext cx="155448" cy="0"/>
          </a:xfrm>
          <a:prstGeom prst="line">
            <a:avLst/>
          </a:prstGeom>
          <a:noFill/>
          <a:ln w="25400">
            <a:solidFill>
              <a:srgbClr val="E0AC2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522976" y="1481328"/>
            <a:ext cx="1463040" cy="2121408"/>
          </a:xfrm>
          <a:prstGeom prst="roundRect">
            <a:avLst>
              <a:gd name="adj" fmla="val 4375"/>
            </a:avLst>
          </a:prstGeom>
          <a:solidFill>
            <a:srgbClr val="0E3320"/>
          </a:solidFill>
          <a:ln w="12700">
            <a:solidFill>
              <a:srgbClr val="1C4A3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25896" y="1691640"/>
            <a:ext cx="457200" cy="457200"/>
          </a:xfrm>
          <a:prstGeom prst="ellipse">
            <a:avLst/>
          </a:prstGeom>
          <a:solidFill>
            <a:srgbClr val="1D6540"/>
          </a:solidFill>
          <a:ln w="12700">
            <a:solidFill>
              <a:srgbClr val="1D654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196" y="180594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14416" y="2231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am Tisch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632704" y="2651760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Spieler erfassen selbst — kein Zettel, kein Abtippen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013448" y="1920240"/>
            <a:ext cx="155448" cy="0"/>
          </a:xfrm>
          <a:prstGeom prst="line">
            <a:avLst/>
          </a:prstGeom>
          <a:noFill/>
          <a:ln w="25400">
            <a:solidFill>
              <a:srgbClr val="E0AC2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196328" y="1481328"/>
            <a:ext cx="1463040" cy="2121408"/>
          </a:xfrm>
          <a:prstGeom prst="roundRect">
            <a:avLst>
              <a:gd name="adj" fmla="val 4375"/>
            </a:avLst>
          </a:prstGeom>
          <a:solidFill>
            <a:srgbClr val="0E3320"/>
          </a:solidFill>
          <a:ln w="12700">
            <a:solidFill>
              <a:srgbClr val="1C4A3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699248" y="1691640"/>
            <a:ext cx="457200" cy="45720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548" y="1805940"/>
            <a:ext cx="228600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87768" y="2231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Rangliste &amp; Protokoll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7306056" y="2651760"/>
            <a:ext cx="12435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A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Endstand, PDF-Protokoll und Rücklauf an den Verband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502920" y="38221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Abtippen. Kein Turnierleiter am Laptop. Kein Nacherfassen am Montagabend.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02920" y="420624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Ergebnisse sind live sichtbar, während gespielt wird — für Zuschauer im Saal und für jeden im Verband, der auf sein Handy schaut.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der Verein am Turniertag sieht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Nichts davon ist Konzept — das läuft seit 2022 im Billardclub Wedel 61 e.V. über alle Disziplinen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655064"/>
            <a:ext cx="457200" cy="457200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769364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0744" y="16733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Touch-Scoreboards an jedem Tisch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" y="2203704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Karambol, Pool und Snooker. Punkte und Aufnahmen werden dort erfasst, wo sie entstehen — auf TV, Tablet oder Touch-Display.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45152" y="1417320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01184" y="1655064"/>
            <a:ext cx="457200" cy="457200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484" y="1769364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22976" y="16733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Live-Turniermonitor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01184" y="2203704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Laufende Spiele, Zwischenstände, Gruppentabellen und Platzierungen aktualisieren sich von selbst, für alle sichtbar.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990088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3227832"/>
            <a:ext cx="457200" cy="457200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34213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0744" y="32461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Protokolle auf Knopfdruck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58952" y="3776472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Spielprotokolle als PDF, Endranglisten mit Generaldurchschnitt und Höchstserie — ohne Nacharbeit.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45152" y="2990088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01184" y="3227832"/>
            <a:ext cx="457200" cy="457200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484" y="334213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32461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Tischreservierung mit Vorheizung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01184" y="3776472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Mitglieder buchen online, der Tisch ist warm, wenn das Spiel beginnt. Auch außerhalb von Turnieren nützlich.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auf jedem Gerät mit Browser. Ein Verein braucht keinen Serverraum — ein Kleinrechner im Vereinsheim genügt.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schiefgehen kann — und was dagegen steht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ehrlichen Fragen eines Vorstands, mit den Antworten, die im System schon eingebaut sind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138160" cy="841248"/>
          </a:xfrm>
          <a:prstGeom prst="roundRect">
            <a:avLst>
              <a:gd name="adj" fmla="val 543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65760" cy="365760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481328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„Im Vereinsheim fällt das Netz aus.“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77056" y="1481328"/>
            <a:ext cx="4608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Vereinsserver spielt autonom weiter. Das Ergebnis wird danach mit einem Befehl nachgemeldet — nichts geht verloren.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543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706624"/>
            <a:ext cx="365760" cy="365760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79806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468880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„Jemand löst versehentlich etwas aus.“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77056" y="2468880"/>
            <a:ext cx="4608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schreibenden Vorgänge laufen standardmäßig als Probelauf. Scharf geschaltet wird nur ausdrücklich, und jeder Vorgang nennt vorher seine Reichweite.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56432"/>
            <a:ext cx="8138160" cy="841248"/>
          </a:xfrm>
          <a:prstGeom prst="roundRect">
            <a:avLst>
              <a:gd name="adj" fmla="val 543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694176"/>
            <a:ext cx="365760" cy="365760"/>
          </a:xfrm>
          <a:prstGeom prst="ellipse">
            <a:avLst/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85616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456432"/>
            <a:ext cx="2560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„Woher wissen wir, dass die Kette hält?“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877056" y="3456432"/>
            <a:ext cx="46085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Prüflauf testet die gesamte Kette lesend durch — Zugänge, Saison, Spielort, Gegenstellen — und benennt den Fehler im Klartext.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Antworten sind nicht geplant, sondern eingebaut und im Betrieb geprüft.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„Und wenn der Entwickler aufhört?“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berechtigte Frage bei jeder Vereinssoftware — hier ist sie schon strukturell beantwortet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2286000"/>
          </a:xfrm>
          <a:prstGeom prst="roundRect">
            <a:avLst>
              <a:gd name="adj" fmla="val 2800"/>
            </a:avLst>
          </a:prstGeom>
          <a:solidFill>
            <a:srgbClr val="14432A"/>
          </a:solidFill>
          <a:ln w="12700">
            <a:solidFill>
              <a:srgbClr val="14432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457200" cy="45720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373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93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Anbieter, kein Vertrag,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Lock-in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404872"/>
            <a:ext cx="100584" cy="100584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2304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Quellcode und Doku offen (MIT-Lizenz)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2752344"/>
            <a:ext cx="100584" cy="100584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6517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jederzeit exportierbar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3099816"/>
            <a:ext cx="100584" cy="100584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29992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selbst übernehmen oder vergeben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3447288"/>
            <a:ext cx="100584" cy="100584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33467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Gebühren je Verein oder Spieler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09160" y="1371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der Einstieg kostet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09160" y="1755648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175564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0 €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5943600" y="17556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Lizenzkosten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dauerhaft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2414016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2414016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~150 €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943600" y="241401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einmalig pro Verein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Kleinrechner im Vereinsheim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09160" y="3072384"/>
            <a:ext cx="3931920" cy="566928"/>
          </a:xfrm>
          <a:prstGeom prst="roundRect">
            <a:avLst>
              <a:gd name="adj" fmla="val 8065"/>
            </a:avLst>
          </a:prstGeom>
          <a:solidFill>
            <a:srgbClr val="EEF5F0"/>
          </a:solidFill>
          <a:ln w="12700">
            <a:solidFill>
              <a:srgbClr val="EEF5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307238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4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10–50 €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5943600" y="3072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Monat für den TBV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Verbandsinstanz inkl. Backups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02920" y="384048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5800" y="384048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Einstieg eines Vereins kostet weniger als ein Satz Turnierbälle — der Betrieb der Verbandsinstanz bleibt unter 600 € im Jahr.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Vorschlag an den TBV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Schritte, die den Verband zu nichts verpflichten — und nach einer Saison eine belastbare Entscheidungsgrundlage liefern.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57200" cy="45720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07008" y="160934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Meisterschaft als Pilot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192024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A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Kette Erfurt → tbv.carambus.de → Zentrale steht und ist geprüft. Eine Einzelmeisterschaft der Saison 2026/27 komplett ohne ClubCloud fahren — mit Papier als Rückfallebene.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596896"/>
            <a:ext cx="457200" cy="45720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7008" y="25420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Trägerschaft klären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07008" y="2852928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A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TBV übernimmt tbv.carambus.de als eigene Verbandsinstanz. Betriebskosten unter 600 € im Jahr, Datenhoheit beim Verband.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529584"/>
            <a:ext cx="457200" cy="457200"/>
          </a:xfrm>
          <a:prstGeom prst="ellipse">
            <a:avLst/>
          </a:prstGeom>
          <a:solidFill>
            <a:srgbClr val="E0AC2B"/>
          </a:solidFill>
          <a:ln w="12700">
            <a:solidFill>
              <a:srgbClr val="E0AC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34747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Menschen benennen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378561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A9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Sportwart plus ein technikinteressiertes Mitglied begleiten den Pilot. So bleibt das Wissen im Verband und hängt nicht an einer Person.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517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Gernot Ullrich  ·  gernot.ullrich@gmx.de  ·  github.com/GernotUllrich/carambus  —  Live-Demo jederzeit, vor Ort in Erfurt oder online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Carambus für den TBV — Einzelmeisterschaften ohne ClubCloud</dc:title>
  <dc:subject>PptxGenJS Presentation</dc:subject>
  <dc:creator>Gernot Ullrich</dc:creator>
  <cp:lastModifiedBy>Gernot Ullrich</cp:lastModifiedBy>
  <cp:revision>1</cp:revision>
  <dcterms:created xsi:type="dcterms:W3CDTF">2026-08-05T23:41:55Z</dcterms:created>
  <dcterms:modified xsi:type="dcterms:W3CDTF">2026-08-05T23:41:55Z</dcterms:modified>
</cp:coreProperties>
</file>